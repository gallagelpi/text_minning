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5" r:id="rId2"/>
  </p:sldMasterIdLst>
  <p:notesMasterIdLst>
    <p:notesMasterId r:id="rId22"/>
  </p:notesMasterIdLst>
  <p:sldIdLst>
    <p:sldId id="256" r:id="rId3"/>
    <p:sldId id="257" r:id="rId4"/>
    <p:sldId id="275" r:id="rId5"/>
    <p:sldId id="259" r:id="rId6"/>
    <p:sldId id="258" r:id="rId7"/>
    <p:sldId id="260" r:id="rId8"/>
    <p:sldId id="261" r:id="rId9"/>
    <p:sldId id="262" r:id="rId10"/>
    <p:sldId id="263" r:id="rId11"/>
    <p:sldId id="27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350"/>
    <a:srgbClr val="FFC000"/>
    <a:srgbClr val="FFFFFF"/>
    <a:srgbClr val="FFF2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24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jose Argote" userId="bca0b3a3594cbf72" providerId="LiveId" clId="{B774E549-DD53-4416-BE4B-E4BBF35CC248}"/>
    <pc:docChg chg="modSld">
      <pc:chgData name="Mariajose Argote" userId="bca0b3a3594cbf72" providerId="LiveId" clId="{B774E549-DD53-4416-BE4B-E4BBF35CC248}" dt="2026-03-17T19:52:13.029" v="59" actId="20577"/>
      <pc:docMkLst>
        <pc:docMk/>
      </pc:docMkLst>
      <pc:sldChg chg="modSp mod">
        <pc:chgData name="Mariajose Argote" userId="bca0b3a3594cbf72" providerId="LiveId" clId="{B774E549-DD53-4416-BE4B-E4BBF35CC248}" dt="2026-03-17T19:52:13.029" v="59" actId="20577"/>
        <pc:sldMkLst>
          <pc:docMk/>
          <pc:sldMk cId="0" sldId="274"/>
        </pc:sldMkLst>
        <pc:spChg chg="mod">
          <ac:chgData name="Mariajose Argote" userId="bca0b3a3594cbf72" providerId="LiveId" clId="{B774E549-DD53-4416-BE4B-E4BBF35CC248}" dt="2026-03-17T19:51:53.172" v="58" actId="20577"/>
          <ac:spMkLst>
            <pc:docMk/>
            <pc:sldMk cId="0" sldId="274"/>
            <ac:spMk id="13" creationId="{00000000-0000-0000-0000-000000000000}"/>
          </ac:spMkLst>
        </pc:spChg>
        <pc:spChg chg="mod">
          <ac:chgData name="Mariajose Argote" userId="bca0b3a3594cbf72" providerId="LiveId" clId="{B774E549-DD53-4416-BE4B-E4BBF35CC248}" dt="2026-03-17T19:52:13.029" v="59" actId="20577"/>
          <ac:spMkLst>
            <pc:docMk/>
            <pc:sldMk cId="0" sldId="274"/>
            <ac:spMk id="1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2E3350"/>
                </a:solidFill>
                <a:latin typeface="Montserrat"/>
              </a:defRPr>
            </a:pPr>
            <a:r>
              <a:rPr lang="en-US" sz="900" b="0" i="0" u="none" strike="noStrike">
                <a:solidFill>
                  <a:srgbClr val="2E3350"/>
                </a:solidFill>
                <a:latin typeface="Montserrat"/>
              </a:rPr>
              <a:t>Evolution of Gender Linguistic Convergence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Cosine Similarity (M vs F)</c:v>
                </c:pt>
              </c:strCache>
            </c:strRef>
          </c:tx>
          <c:spPr>
            <a:ln w="25400" cap="flat">
              <a:solidFill>
                <a:srgbClr val="4ECDC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ECDC4"/>
              </a:solidFill>
              <a:ln w="9525" cap="flat">
                <a:solidFill>
                  <a:srgbClr val="4ECDC4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'01</c:v>
                </c:pt>
                <c:pt idx="1">
                  <c:v>'02</c:v>
                </c:pt>
                <c:pt idx="2">
                  <c:v>'03</c:v>
                </c:pt>
                <c:pt idx="3">
                  <c:v>'04</c:v>
                </c:pt>
                <c:pt idx="4">
                  <c:v>'05</c:v>
                </c:pt>
                <c:pt idx="5">
                  <c:v>'06</c:v>
                </c:pt>
                <c:pt idx="6">
                  <c:v>'07</c:v>
                </c:pt>
                <c:pt idx="7">
                  <c:v>'08</c:v>
                </c:pt>
                <c:pt idx="8">
                  <c:v>'09</c:v>
                </c:pt>
                <c:pt idx="9">
                  <c:v>'10</c:v>
                </c:pt>
                <c:pt idx="10">
                  <c:v>'11</c:v>
                </c:pt>
                <c:pt idx="11">
                  <c:v>'12</c:v>
                </c:pt>
                <c:pt idx="12">
                  <c:v>'13</c:v>
                </c:pt>
                <c:pt idx="13">
                  <c:v>'14</c:v>
                </c:pt>
                <c:pt idx="14">
                  <c:v>'15</c:v>
                </c:pt>
                <c:pt idx="15">
                  <c:v>'16</c:v>
                </c:pt>
                <c:pt idx="16">
                  <c:v>'17</c:v>
                </c:pt>
                <c:pt idx="17">
                  <c:v>'18</c:v>
                </c:pt>
                <c:pt idx="18">
                  <c:v>'19</c:v>
                </c:pt>
                <c:pt idx="19">
                  <c:v>'20</c:v>
                </c:pt>
                <c:pt idx="20">
                  <c:v>'21</c:v>
                </c:pt>
                <c:pt idx="21">
                  <c:v>'22</c:v>
                </c:pt>
                <c:pt idx="22">
                  <c:v>'23</c:v>
                </c:pt>
                <c:pt idx="23">
                  <c:v>'24</c:v>
                </c:pt>
                <c:pt idx="24">
                  <c:v>'25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0.77400000000000002</c:v>
                </c:pt>
                <c:pt idx="1">
                  <c:v>0.82299999999999995</c:v>
                </c:pt>
                <c:pt idx="2">
                  <c:v>0.82499999999999996</c:v>
                </c:pt>
                <c:pt idx="3">
                  <c:v>0.80700000000000005</c:v>
                </c:pt>
                <c:pt idx="4">
                  <c:v>0.80800000000000005</c:v>
                </c:pt>
                <c:pt idx="5">
                  <c:v>0.81299999999999994</c:v>
                </c:pt>
                <c:pt idx="6">
                  <c:v>0.81100000000000005</c:v>
                </c:pt>
                <c:pt idx="7">
                  <c:v>0.82099999999999995</c:v>
                </c:pt>
                <c:pt idx="8">
                  <c:v>0.83499999999999996</c:v>
                </c:pt>
                <c:pt idx="9">
                  <c:v>0.84799999999999998</c:v>
                </c:pt>
                <c:pt idx="10">
                  <c:v>0.84899999999999998</c:v>
                </c:pt>
                <c:pt idx="11">
                  <c:v>0.86499999999999999</c:v>
                </c:pt>
                <c:pt idx="12">
                  <c:v>0.86699999999999999</c:v>
                </c:pt>
                <c:pt idx="13">
                  <c:v>0.876</c:v>
                </c:pt>
                <c:pt idx="14">
                  <c:v>0.877</c:v>
                </c:pt>
                <c:pt idx="15">
                  <c:v>0.88700000000000001</c:v>
                </c:pt>
                <c:pt idx="16">
                  <c:v>0.872</c:v>
                </c:pt>
                <c:pt idx="17">
                  <c:v>0.88200000000000001</c:v>
                </c:pt>
                <c:pt idx="18">
                  <c:v>0.86599999999999999</c:v>
                </c:pt>
                <c:pt idx="19">
                  <c:v>0.872</c:v>
                </c:pt>
                <c:pt idx="20">
                  <c:v>0.86899999999999999</c:v>
                </c:pt>
                <c:pt idx="21">
                  <c:v>0.86299999999999999</c:v>
                </c:pt>
                <c:pt idx="22">
                  <c:v>0.872</c:v>
                </c:pt>
                <c:pt idx="23">
                  <c:v>0.876</c:v>
                </c:pt>
                <c:pt idx="24">
                  <c:v>0.876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3EA-49B9-9405-C8D7EB0242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8E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75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8E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2E3350"/>
                </a:solidFill>
                <a:latin typeface="Montserrat"/>
              </a:defRPr>
            </a:pPr>
            <a:r>
              <a:rPr lang="en-US" sz="900" b="0" i="0" u="none" strike="noStrike">
                <a:solidFill>
                  <a:srgbClr val="2E3350"/>
                </a:solidFill>
                <a:latin typeface="Montserrat"/>
              </a:rPr>
              <a:t>Linear Regression: Gender Linguistic Convergence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ln w="25400" cap="flat">
              <a:solidFill>
                <a:srgbClr val="4ECDC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ECDC4"/>
              </a:solidFill>
              <a:ln w="9525" cap="flat">
                <a:solidFill>
                  <a:srgbClr val="4ECDC4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'01</c:v>
                </c:pt>
                <c:pt idx="1">
                  <c:v>'03</c:v>
                </c:pt>
                <c:pt idx="2">
                  <c:v>'05</c:v>
                </c:pt>
                <c:pt idx="3">
                  <c:v>'07</c:v>
                </c:pt>
                <c:pt idx="4">
                  <c:v>'09</c:v>
                </c:pt>
                <c:pt idx="5">
                  <c:v>'11</c:v>
                </c:pt>
                <c:pt idx="6">
                  <c:v>'13</c:v>
                </c:pt>
                <c:pt idx="7">
                  <c:v>'15</c:v>
                </c:pt>
                <c:pt idx="8">
                  <c:v>'17</c:v>
                </c:pt>
                <c:pt idx="9">
                  <c:v>'19</c:v>
                </c:pt>
                <c:pt idx="10">
                  <c:v>'21</c:v>
                </c:pt>
                <c:pt idx="11">
                  <c:v>'23</c:v>
                </c:pt>
                <c:pt idx="12">
                  <c:v>'25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0.77400000000000002</c:v>
                </c:pt>
                <c:pt idx="1">
                  <c:v>0.82499999999999996</c:v>
                </c:pt>
                <c:pt idx="2">
                  <c:v>0.80800000000000005</c:v>
                </c:pt>
                <c:pt idx="3">
                  <c:v>0.81100000000000005</c:v>
                </c:pt>
                <c:pt idx="4">
                  <c:v>0.83499999999999996</c:v>
                </c:pt>
                <c:pt idx="5">
                  <c:v>0.84899999999999998</c:v>
                </c:pt>
                <c:pt idx="6">
                  <c:v>0.86699999999999999</c:v>
                </c:pt>
                <c:pt idx="7">
                  <c:v>0.877</c:v>
                </c:pt>
                <c:pt idx="8">
                  <c:v>0.872</c:v>
                </c:pt>
                <c:pt idx="9">
                  <c:v>0.86599999999999999</c:v>
                </c:pt>
                <c:pt idx="10">
                  <c:v>0.86899999999999999</c:v>
                </c:pt>
                <c:pt idx="11">
                  <c:v>0.872</c:v>
                </c:pt>
                <c:pt idx="12">
                  <c:v>0.876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76-4DEC-A880-3F506A4BE8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Trend (OLS)</c:v>
                </c:pt>
              </c:strCache>
            </c:strRef>
          </c:tx>
          <c:spPr>
            <a:ln w="25400" cap="flat">
              <a:solidFill>
                <a:srgbClr val="E67E2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'01</c:v>
                </c:pt>
                <c:pt idx="1">
                  <c:v>'03</c:v>
                </c:pt>
                <c:pt idx="2">
                  <c:v>'05</c:v>
                </c:pt>
                <c:pt idx="3">
                  <c:v>'07</c:v>
                </c:pt>
                <c:pt idx="4">
                  <c:v>'09</c:v>
                </c:pt>
                <c:pt idx="5">
                  <c:v>'11</c:v>
                </c:pt>
                <c:pt idx="6">
                  <c:v>'13</c:v>
                </c:pt>
                <c:pt idx="7">
                  <c:v>'15</c:v>
                </c:pt>
                <c:pt idx="8">
                  <c:v>'17</c:v>
                </c:pt>
                <c:pt idx="9">
                  <c:v>'19</c:v>
                </c:pt>
                <c:pt idx="10">
                  <c:v>'21</c:v>
                </c:pt>
                <c:pt idx="11">
                  <c:v>'23</c:v>
                </c:pt>
                <c:pt idx="12">
                  <c:v>'25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0.79500000000000004</c:v>
                </c:pt>
                <c:pt idx="1">
                  <c:v>0.80200000000000005</c:v>
                </c:pt>
                <c:pt idx="2">
                  <c:v>0.80900000000000005</c:v>
                </c:pt>
                <c:pt idx="3">
                  <c:v>0.81599999999999995</c:v>
                </c:pt>
                <c:pt idx="4">
                  <c:v>0.82299999999999995</c:v>
                </c:pt>
                <c:pt idx="5">
                  <c:v>0.83</c:v>
                </c:pt>
                <c:pt idx="6">
                  <c:v>0.83699999999999997</c:v>
                </c:pt>
                <c:pt idx="7">
                  <c:v>0.84399999999999997</c:v>
                </c:pt>
                <c:pt idx="8">
                  <c:v>0.85099999999999998</c:v>
                </c:pt>
                <c:pt idx="9">
                  <c:v>0.85799999999999998</c:v>
                </c:pt>
                <c:pt idx="10">
                  <c:v>0.86499999999999999</c:v>
                </c:pt>
                <c:pt idx="11">
                  <c:v>0.872</c:v>
                </c:pt>
                <c:pt idx="12">
                  <c:v>0.879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76-4DEC-A880-3F506A4BE8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8E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77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8E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/>
          </a:pPr>
          <a:endParaRPr lang="en-US"/>
        </a:p>
      </c:txPr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2E3350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2E3350"/>
                </a:solidFill>
                <a:latin typeface="Arial"/>
              </a:rPr>
              <a:t>Professional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</c:v>
                </c:pt>
              </c:strCache>
            </c:strRef>
          </c:tx>
          <c:spPr>
            <a:ln w="25400" cap="flat">
              <a:solidFill>
                <a:srgbClr val="3498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498DB"/>
              </a:solidFill>
              <a:ln w="9525" cap="flat">
                <a:solidFill>
                  <a:srgbClr val="3498D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'01</c:v>
                </c:pt>
                <c:pt idx="1">
                  <c:v>'05</c:v>
                </c:pt>
                <c:pt idx="2">
                  <c:v>'09</c:v>
                </c:pt>
                <c:pt idx="3">
                  <c:v>'13</c:v>
                </c:pt>
                <c:pt idx="4">
                  <c:v>'17</c:v>
                </c:pt>
                <c:pt idx="5">
                  <c:v>'21</c:v>
                </c:pt>
                <c:pt idx="6">
                  <c:v>'25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4.4999999999999998E-2</c:v>
                </c:pt>
                <c:pt idx="1">
                  <c:v>4.2999999999999997E-2</c:v>
                </c:pt>
                <c:pt idx="2">
                  <c:v>4.2000000000000003E-2</c:v>
                </c:pt>
                <c:pt idx="3">
                  <c:v>0.04</c:v>
                </c:pt>
                <c:pt idx="4">
                  <c:v>3.9E-2</c:v>
                </c:pt>
                <c:pt idx="5">
                  <c:v>3.7999999999999999E-2</c:v>
                </c:pt>
                <c:pt idx="6">
                  <c:v>3.6999999999999998E-2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5E7-406F-BF5F-EDA8AF26FF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Women</c:v>
                </c:pt>
              </c:strCache>
            </c:strRef>
          </c:tx>
          <c:spPr>
            <a:ln w="254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'01</c:v>
                </c:pt>
                <c:pt idx="1">
                  <c:v>'05</c:v>
                </c:pt>
                <c:pt idx="2">
                  <c:v>'09</c:v>
                </c:pt>
                <c:pt idx="3">
                  <c:v>'13</c:v>
                </c:pt>
                <c:pt idx="4">
                  <c:v>'17</c:v>
                </c:pt>
                <c:pt idx="5">
                  <c:v>'21</c:v>
                </c:pt>
                <c:pt idx="6">
                  <c:v>'25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2.8000000000000001E-2</c:v>
                </c:pt>
                <c:pt idx="1">
                  <c:v>0.03</c:v>
                </c:pt>
                <c:pt idx="2">
                  <c:v>3.2000000000000001E-2</c:v>
                </c:pt>
                <c:pt idx="3">
                  <c:v>3.4000000000000002E-2</c:v>
                </c:pt>
                <c:pt idx="4">
                  <c:v>3.5000000000000003E-2</c:v>
                </c:pt>
                <c:pt idx="5">
                  <c:v>3.5999999999999997E-2</c:v>
                </c:pt>
                <c:pt idx="6">
                  <c:v>3.5999999999999997E-2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5E7-406F-BF5F-EDA8AF26FF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8E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8E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2E3350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2E3350"/>
                </a:solidFill>
                <a:latin typeface="Arial"/>
              </a:rPr>
              <a:t>Lifestyle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</c:v>
                </c:pt>
              </c:strCache>
            </c:strRef>
          </c:tx>
          <c:spPr>
            <a:ln w="25400" cap="flat">
              <a:solidFill>
                <a:srgbClr val="3498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498DB"/>
              </a:solidFill>
              <a:ln w="9525" cap="flat">
                <a:solidFill>
                  <a:srgbClr val="3498D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'01</c:v>
                </c:pt>
                <c:pt idx="1">
                  <c:v>'05</c:v>
                </c:pt>
                <c:pt idx="2">
                  <c:v>'09</c:v>
                </c:pt>
                <c:pt idx="3">
                  <c:v>'13</c:v>
                </c:pt>
                <c:pt idx="4">
                  <c:v>'17</c:v>
                </c:pt>
                <c:pt idx="5">
                  <c:v>'21</c:v>
                </c:pt>
                <c:pt idx="6">
                  <c:v>'25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2.1999999999999999E-2</c:v>
                </c:pt>
                <c:pt idx="1">
                  <c:v>2.4E-2</c:v>
                </c:pt>
                <c:pt idx="2">
                  <c:v>2.5000000000000001E-2</c:v>
                </c:pt>
                <c:pt idx="3">
                  <c:v>2.7E-2</c:v>
                </c:pt>
                <c:pt idx="4">
                  <c:v>2.8000000000000001E-2</c:v>
                </c:pt>
                <c:pt idx="5">
                  <c:v>2.9000000000000001E-2</c:v>
                </c:pt>
                <c:pt idx="6">
                  <c:v>0.03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3C6-4622-BC06-E57F7A5931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Women</c:v>
                </c:pt>
              </c:strCache>
            </c:strRef>
          </c:tx>
          <c:spPr>
            <a:ln w="254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'01</c:v>
                </c:pt>
                <c:pt idx="1">
                  <c:v>'05</c:v>
                </c:pt>
                <c:pt idx="2">
                  <c:v>'09</c:v>
                </c:pt>
                <c:pt idx="3">
                  <c:v>'13</c:v>
                </c:pt>
                <c:pt idx="4">
                  <c:v>'17</c:v>
                </c:pt>
                <c:pt idx="5">
                  <c:v>'21</c:v>
                </c:pt>
                <c:pt idx="6">
                  <c:v>'25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1.7999999999999999E-2</c:v>
                </c:pt>
                <c:pt idx="1">
                  <c:v>0.02</c:v>
                </c:pt>
                <c:pt idx="2">
                  <c:v>2.1999999999999999E-2</c:v>
                </c:pt>
                <c:pt idx="3">
                  <c:v>2.4E-2</c:v>
                </c:pt>
                <c:pt idx="4">
                  <c:v>2.5999999999999999E-2</c:v>
                </c:pt>
                <c:pt idx="5">
                  <c:v>2.8000000000000001E-2</c:v>
                </c:pt>
                <c:pt idx="6">
                  <c:v>2.9000000000000001E-2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3C6-4622-BC06-E57F7A5931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8E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8E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2E3350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2E3350"/>
                </a:solidFill>
                <a:latin typeface="Arial"/>
              </a:rPr>
              <a:t>Family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</c:v>
                </c:pt>
              </c:strCache>
            </c:strRef>
          </c:tx>
          <c:spPr>
            <a:ln w="25400" cap="flat">
              <a:solidFill>
                <a:srgbClr val="3498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498DB"/>
              </a:solidFill>
              <a:ln w="9525" cap="flat">
                <a:solidFill>
                  <a:srgbClr val="3498D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'01</c:v>
                </c:pt>
                <c:pt idx="1">
                  <c:v>'05</c:v>
                </c:pt>
                <c:pt idx="2">
                  <c:v>'09</c:v>
                </c:pt>
                <c:pt idx="3">
                  <c:v>'13</c:v>
                </c:pt>
                <c:pt idx="4">
                  <c:v>'17</c:v>
                </c:pt>
                <c:pt idx="5">
                  <c:v>'21</c:v>
                </c:pt>
                <c:pt idx="6">
                  <c:v>'25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5.5E-2</c:v>
                </c:pt>
                <c:pt idx="1">
                  <c:v>5.6000000000000001E-2</c:v>
                </c:pt>
                <c:pt idx="2">
                  <c:v>5.8000000000000003E-2</c:v>
                </c:pt>
                <c:pt idx="3">
                  <c:v>0.06</c:v>
                </c:pt>
                <c:pt idx="4">
                  <c:v>6.2E-2</c:v>
                </c:pt>
                <c:pt idx="5">
                  <c:v>6.4000000000000001E-2</c:v>
                </c:pt>
                <c:pt idx="6">
                  <c:v>6.5000000000000002E-2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B0-47C8-BD55-8F713A3099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Women</c:v>
                </c:pt>
              </c:strCache>
            </c:strRef>
          </c:tx>
          <c:spPr>
            <a:ln w="254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'01</c:v>
                </c:pt>
                <c:pt idx="1">
                  <c:v>'05</c:v>
                </c:pt>
                <c:pt idx="2">
                  <c:v>'09</c:v>
                </c:pt>
                <c:pt idx="3">
                  <c:v>'13</c:v>
                </c:pt>
                <c:pt idx="4">
                  <c:v>'17</c:v>
                </c:pt>
                <c:pt idx="5">
                  <c:v>'21</c:v>
                </c:pt>
                <c:pt idx="6">
                  <c:v>'25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0.09</c:v>
                </c:pt>
                <c:pt idx="1">
                  <c:v>8.7999999999999995E-2</c:v>
                </c:pt>
                <c:pt idx="2">
                  <c:v>8.5000000000000006E-2</c:v>
                </c:pt>
                <c:pt idx="3">
                  <c:v>8.2000000000000003E-2</c:v>
                </c:pt>
                <c:pt idx="4">
                  <c:v>7.9000000000000001E-2</c:v>
                </c:pt>
                <c:pt idx="5">
                  <c:v>7.5999999999999998E-2</c:v>
                </c:pt>
                <c:pt idx="6">
                  <c:v>7.3999999999999996E-2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3B0-47C8-BD55-8F713A309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8E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8E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2E3350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2E3350"/>
                </a:solidFill>
                <a:latin typeface="Arial"/>
              </a:rPr>
              <a:t>Religion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</c:v>
                </c:pt>
              </c:strCache>
            </c:strRef>
          </c:tx>
          <c:spPr>
            <a:ln w="25400" cap="flat">
              <a:solidFill>
                <a:srgbClr val="3498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498DB"/>
              </a:solidFill>
              <a:ln w="9525" cap="flat">
                <a:solidFill>
                  <a:srgbClr val="3498D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'01</c:v>
                </c:pt>
                <c:pt idx="1">
                  <c:v>'05</c:v>
                </c:pt>
                <c:pt idx="2">
                  <c:v>'09</c:v>
                </c:pt>
                <c:pt idx="3">
                  <c:v>'13</c:v>
                </c:pt>
                <c:pt idx="4">
                  <c:v>'17</c:v>
                </c:pt>
                <c:pt idx="5">
                  <c:v>'21</c:v>
                </c:pt>
                <c:pt idx="6">
                  <c:v>'25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3.2000000000000001E-2</c:v>
                </c:pt>
                <c:pt idx="1">
                  <c:v>3.1E-2</c:v>
                </c:pt>
                <c:pt idx="2">
                  <c:v>3.1E-2</c:v>
                </c:pt>
                <c:pt idx="3">
                  <c:v>0.03</c:v>
                </c:pt>
                <c:pt idx="4">
                  <c:v>0.03</c:v>
                </c:pt>
                <c:pt idx="5">
                  <c:v>2.9000000000000001E-2</c:v>
                </c:pt>
                <c:pt idx="6">
                  <c:v>2.9000000000000001E-2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80-4CB2-B04E-250C364C1A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Women</c:v>
                </c:pt>
              </c:strCache>
            </c:strRef>
          </c:tx>
          <c:spPr>
            <a:ln w="254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'01</c:v>
                </c:pt>
                <c:pt idx="1">
                  <c:v>'05</c:v>
                </c:pt>
                <c:pt idx="2">
                  <c:v>'09</c:v>
                </c:pt>
                <c:pt idx="3">
                  <c:v>'13</c:v>
                </c:pt>
                <c:pt idx="4">
                  <c:v>'17</c:v>
                </c:pt>
                <c:pt idx="5">
                  <c:v>'21</c:v>
                </c:pt>
                <c:pt idx="6">
                  <c:v>'25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4.2000000000000003E-2</c:v>
                </c:pt>
                <c:pt idx="1">
                  <c:v>4.1000000000000002E-2</c:v>
                </c:pt>
                <c:pt idx="2">
                  <c:v>4.1000000000000002E-2</c:v>
                </c:pt>
                <c:pt idx="3">
                  <c:v>0.04</c:v>
                </c:pt>
                <c:pt idx="4">
                  <c:v>0.04</c:v>
                </c:pt>
                <c:pt idx="5">
                  <c:v>3.9E-2</c:v>
                </c:pt>
                <c:pt idx="6">
                  <c:v>3.9E-2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880-4CB2-B04E-250C364C1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8E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8E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331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question: how has perception changed? Two hypotheses with equations. Don't reveal results yet — the question comes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VOICEOVER MOTIVATION: The world feels more divided than ever. But is it? Surveys tell us what people think they should say — social desirability bias obscures real values. Families and communities choose what to highlight in obituaries — these choices give us a trace of what society values. That's why obituaries are better than surveys: unfiltered, structured genre, dual authorship.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preprocessing: TF-IDF per year, male/female centroids, cosine similarity. Result: 0.77→0.88, R²=0.741, p&lt;0.001. Year explains 74% of 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8AF39-3790-FF2C-4223-CB794B2B7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4F8F3-DBE6-22EA-4093-B0FCD4CFF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42288-B6A8-918B-4303-C6D864477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8656B-BE86-4E40-BBFA-9259711E6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83E8C-8128-A50D-0150-26E8332D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7325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9A76E-9060-F02A-0C20-1EC85A3CD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A332-5D5F-E793-4592-CBB8C7EC9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1D245-3E68-91B6-0F1F-D216E904D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49E99-CDA5-36F3-C552-5058601AA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B4BA4-AAC5-4C3B-3064-BB6E28AC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2204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960D-F6D2-2325-80AA-153CAE4E3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39F47-1734-AB7C-EF8E-EF89F7FD2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A09DB-6A68-1EFF-A3DC-06CBD1183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F3533-3E08-B6BA-5AD5-9CE1ACF8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DE315-EA98-B4B2-B474-F30E9F18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4375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4EE64-16B7-B73C-D92F-4B49FD641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33296-603F-7FCF-CC8F-76960187D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09706-FDE0-9B52-1551-C6C42108E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2DFC4-EE8B-3C9B-6307-579A3382C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EF819-FE6E-A60F-0592-B4F4C70B9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AAF60-244C-ED69-9DCC-B9A043611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603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AEBD5-ACA0-669D-194E-EB74100DA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D893E-A63F-1BCE-66E1-5B0D0C57C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B929C-F372-CD54-2816-3F8D84AEC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55421F-F38B-8689-1299-4059383089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F7D786-BFEB-52A2-3208-A88960377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1E44C8-3CC9-DEC9-E435-A27C834C8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7FAB7B-9A68-9B42-ED04-87567DBB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6B521C-9392-0CFF-9714-340278380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7110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4A155-8FDC-70A4-AFBB-0A4730F9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066401-1984-C96C-15BE-9D01603BE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E9A8A4-15A3-A73E-78FE-97D9FED8A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6F7D8-3DBE-4CF3-EB35-8173B4B90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472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8DD91-34E2-2C72-3A43-743F92B8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61D091-A536-EB05-D958-CE543FFE1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8908F-B51B-1876-0E29-3679B1669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8269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3D868-3F0F-4E6F-E765-A71C76B02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7B0A0-D4DA-C9B8-3F2F-2887B3374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C2B142-85F6-F82F-DDEE-A1AD5A081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37BEA-C2A4-6E2E-939A-5AD803DFF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8D63B-309F-340E-837A-BCFFB2379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03836-B947-FDE6-CDB4-A31086A3F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69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6E93B-2FFD-8D72-09A4-0B208E03F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CF5EFE-058C-4B30-E21E-89A86BF872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3AD6F-9D14-E5D2-4DD9-505FD90E1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85FDD-2D26-0945-630A-0B7CCD80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4957B-3972-4AFB-AAD8-C66427899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8ADE3-33EA-9425-5A66-6CF9575B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1004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ADA2-8AF5-6C31-E8AB-B5B18868B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FA892-ACA5-E409-DFEC-6CC85FDD4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1F179-36AA-6192-434A-9B4970B92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7D549-6131-CB1E-D788-7F5EBEAD9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85C28-75A8-C784-7803-0ABC66C6C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9063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301623-68B7-72F3-DCD9-FAC748F18A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3FF6D-7533-4907-47E1-C253F2236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DC4E6-B57A-A04F-F68D-0CBAD1D26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B4423-A6E7-61D2-61BC-17BB15B3D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67885-9DCF-960C-6431-0B4341312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70515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100" kern="1200" spc="113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/>
            </a:lvl1pPr>
          </a:lstStyle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/>
            </a:lvl1pPr>
          </a:lstStyle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1583706"/>
            <a:ext cx="7886700" cy="2808684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26633768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bg>
      <p:bgPr>
        <a:solidFill>
          <a:srgbClr val="FA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41265" y="241066"/>
            <a:ext cx="336714" cy="323034"/>
          </a:xfrm>
          <a:prstGeom prst="rect">
            <a:avLst/>
          </a:prstGeom>
        </p:spPr>
        <p:txBody>
          <a:bodyPr lIns="91375" tIns="91375" rIns="91375" bIns="91375" anchor="t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73190"/>
      </p:ext>
    </p:extLst>
  </p:cSld>
  <p:clrMapOvr>
    <a:masterClrMapping/>
  </p:clrMapOvr>
  <p:transition spd="med"/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752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04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A8E368F-3FC8-F522-2D30-02F6E424A773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005155940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08" imgH="408" progId="TCLayout.ActiveDocument.1">
                  <p:embed/>
                </p:oleObj>
              </mc:Choice>
              <mc:Fallback>
                <p:oleObj name="think-cell Slide" r:id="rId17" imgW="408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A8E368F-3FC8-F522-2D30-02F6E424A7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74FBED-566E-41A0-B427-E1FBAEB27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8E9F2-B783-F6A3-13A1-EACB20506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A283E-2127-9008-B6B4-FEB720707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FD74F-B8C8-AF48-7649-80FF9FCC93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F8F5A-39FB-7DA6-4AFF-612D8F1A7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13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14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47447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Between the Lines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3228324"/>
            <a:ext cx="1645920" cy="54864"/>
          </a:xfrm>
          <a:prstGeom prst="rect">
            <a:avLst/>
          </a:prstGeom>
          <a:solidFill>
            <a:srgbClr val="F2D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54252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Majo Argote  |  Gal·la Gelpi  |  Cherryl Chico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8625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to Text Mining &amp; NLP  |  March 2026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28EDD434-C12D-3B22-3592-116CDAC77E75}"/>
              </a:ext>
            </a:extLst>
          </p:cNvPr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B8BDE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685867B4-27E2-7C07-4054-82C275A466C8}"/>
              </a:ext>
            </a:extLst>
          </p:cNvPr>
          <p:cNvSpPr/>
          <p:nvPr/>
        </p:nvSpPr>
        <p:spPr>
          <a:xfrm>
            <a:off x="7498080" y="2743200"/>
            <a:ext cx="2743200" cy="2743200"/>
          </a:xfrm>
          <a:prstGeom prst="ellipse">
            <a:avLst/>
          </a:prstGeom>
          <a:solidFill>
            <a:srgbClr val="5AB5A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8B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-1768840" y="914400"/>
            <a:ext cx="5029200" cy="5029200"/>
          </a:xfrm>
          <a:prstGeom prst="ellipse">
            <a:avLst/>
          </a:prstGeom>
          <a:solidFill>
            <a:schemeClr val="bg1">
              <a:alpha val="88000"/>
            </a:scheme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/>
          <p:cNvSpPr/>
          <p:nvPr/>
        </p:nvSpPr>
        <p:spPr>
          <a:xfrm>
            <a:off x="64008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94913" y="16459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has the perception of men and women in the U.S. changed over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past 25 years?</a:t>
            </a:r>
            <a:endParaRPr lang="en-US" sz="3000" dirty="0"/>
          </a:p>
        </p:txBody>
      </p:sp>
      <p:sp>
        <p:nvSpPr>
          <p:cNvPr id="15" name="Shape 3"/>
          <p:cNvSpPr/>
          <p:nvPr/>
        </p:nvSpPr>
        <p:spPr>
          <a:xfrm>
            <a:off x="894913" y="3601574"/>
            <a:ext cx="1828800" cy="54864"/>
          </a:xfrm>
          <a:prstGeom prst="rect">
            <a:avLst/>
          </a:prstGeom>
          <a:solidFill>
            <a:srgbClr val="F2D0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F2D06B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CLAIM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92583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gap between how men's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women's lives are narrated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narrowing.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2"/>
          <p:cNvSpPr/>
          <p:nvPr/>
        </p:nvSpPr>
        <p:spPr>
          <a:xfrm>
            <a:off x="640080" y="3017520"/>
            <a:ext cx="3794760" cy="173736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640080" y="3017520"/>
            <a:ext cx="3794760" cy="54864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6868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H1  Convergence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68680" y="3566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Descriptions of men and women in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obituaries are converging over time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68680" y="4206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CosineSim(Mₜ, Fₜ) = α + β₁·Yearₜ + εₜ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11" name="Shape 7"/>
          <p:cNvSpPr/>
          <p:nvPr/>
        </p:nvSpPr>
        <p:spPr>
          <a:xfrm>
            <a:off x="4709160" y="3017520"/>
            <a:ext cx="3794760" cy="173736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709160" y="3017520"/>
            <a:ext cx="3794760" cy="54864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93776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H2  Drivers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37760" y="3566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Convergence driven especially by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career/profession and family/lifestyle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937760" y="4206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Yᵢ = β₀ + β₁Fᵢ + Σγₜ·Dₜ + Σδₜ·(Fᵢ×Dₜ) + εᵢ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CORPUS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data inventory.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560320" cy="914400"/>
          </a:xfrm>
          <a:prstGeom prst="rect">
            <a:avLst/>
          </a:prstGeom>
          <a:solidFill>
            <a:srgbClr val="363B5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obituaries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~240K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0" y="1417320"/>
            <a:ext cx="2560320" cy="914400"/>
          </a:xfrm>
          <a:prstGeom prst="rect">
            <a:avLst/>
          </a:prstGeom>
          <a:solidFill>
            <a:srgbClr val="363B5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span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2001–2025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2560320" cy="914400"/>
          </a:xfrm>
          <a:prstGeom prst="rect">
            <a:avLst/>
          </a:prstGeom>
          <a:solidFill>
            <a:srgbClr val="363B5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8E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US-wide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Variables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text, publication date, name, location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2606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Derived / Extracted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9260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Gender (M/F) — first name + relational terms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 at death — extracted from text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text_clean — lemmatized, names removed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thematic density scores per document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TF-IDF vectors per year × gender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solidFill>
            <a:srgbClr val="36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4348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filter:  Minimum age 70 at death — ensures comparable life arcs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OBITUARIES?</a:t>
            </a:r>
            <a:endParaRPr lang="en-US" sz="11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15B3BBB-8627-2D03-347B-C8A3FC3281BB}"/>
              </a:ext>
            </a:extLst>
          </p:cNvPr>
          <p:cNvGrpSpPr/>
          <p:nvPr/>
        </p:nvGrpSpPr>
        <p:grpSpPr>
          <a:xfrm>
            <a:off x="4846320" y="1175920"/>
            <a:ext cx="3840480" cy="3246120"/>
            <a:chOff x="4846320" y="1417320"/>
            <a:chExt cx="3840480" cy="3246120"/>
          </a:xfrm>
        </p:grpSpPr>
        <p:sp>
          <p:nvSpPr>
            <p:cNvPr id="5" name="Shape 2"/>
            <p:cNvSpPr/>
            <p:nvPr/>
          </p:nvSpPr>
          <p:spPr>
            <a:xfrm>
              <a:off x="4846320" y="1417320"/>
              <a:ext cx="3840480" cy="9601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3"/>
            <p:cNvSpPr/>
            <p:nvPr/>
          </p:nvSpPr>
          <p:spPr>
            <a:xfrm>
              <a:off x="4846320" y="1417320"/>
              <a:ext cx="64008" cy="960120"/>
            </a:xfrm>
            <a:prstGeom prst="rect">
              <a:avLst/>
            </a:prstGeom>
            <a:solidFill>
              <a:srgbClr val="FFC00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4"/>
            <p:cNvSpPr/>
            <p:nvPr/>
          </p:nvSpPr>
          <p:spPr>
            <a:xfrm>
              <a:off x="5074920" y="150876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C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01</a:t>
              </a:r>
              <a:endParaRPr lang="en-US" sz="1400" dirty="0">
                <a:solidFill>
                  <a:srgbClr val="FFC000"/>
                </a:solidFill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5532120" y="1508760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E335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Unfiltered</a:t>
              </a:r>
              <a:endParaRPr lang="en-US" sz="14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5074920" y="1828800"/>
              <a:ext cx="3429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000" dirty="0">
                  <a:solidFill>
                    <a:srgbClr val="8A8EA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Writer is not performing for a researcher — bypasses social desirability bias</a:t>
              </a:r>
              <a:endParaRPr lang="en-US" sz="10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4846320" y="2560320"/>
              <a:ext cx="3840480" cy="9601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8"/>
            <p:cNvSpPr/>
            <p:nvPr/>
          </p:nvSpPr>
          <p:spPr>
            <a:xfrm>
              <a:off x="4846320" y="2560320"/>
              <a:ext cx="64008" cy="960120"/>
            </a:xfrm>
            <a:prstGeom prst="rect">
              <a:avLst/>
            </a:prstGeom>
            <a:solidFill>
              <a:srgbClr val="4ECDC4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5074920" y="265176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4ECDC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02</a:t>
              </a:r>
              <a:endParaRPr lang="en-US" sz="14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5532120" y="2651760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E335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Structured Genre</a:t>
              </a:r>
              <a:endParaRPr lang="en-US" sz="14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5074920" y="2971800"/>
              <a:ext cx="3429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000" dirty="0">
                  <a:solidFill>
                    <a:srgbClr val="8A8EA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Consistent template: family, career, hobbies, faith — comparable across time</a:t>
              </a:r>
              <a:endParaRPr lang="en-US" sz="10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4846320" y="3703320"/>
              <a:ext cx="3840480" cy="9601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3"/>
            <p:cNvSpPr/>
            <p:nvPr/>
          </p:nvSpPr>
          <p:spPr>
            <a:xfrm>
              <a:off x="4846320" y="3703320"/>
              <a:ext cx="64008" cy="960120"/>
            </a:xfrm>
            <a:prstGeom prst="rect">
              <a:avLst/>
            </a:prstGeom>
            <a:solidFill>
              <a:srgbClr val="9B8EC4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4"/>
            <p:cNvSpPr/>
            <p:nvPr/>
          </p:nvSpPr>
          <p:spPr>
            <a:xfrm>
              <a:off x="5074920" y="379476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9B8EC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03</a:t>
              </a:r>
              <a:endParaRPr lang="en-US" sz="14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5532120" y="3794760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E335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Dual Authorship</a:t>
              </a:r>
              <a:endParaRPr lang="en-US" sz="14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5074920" y="4114800"/>
              <a:ext cx="3429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000" dirty="0">
                  <a:solidFill>
                    <a:srgbClr val="8A8EA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Captures what society, via the writer, thinks is important at the time of writing</a:t>
              </a:r>
              <a:endParaRPr lang="en-US" sz="1000" dirty="0"/>
            </a:p>
          </p:txBody>
        </p:sp>
      </p:grpSp>
      <p:sp>
        <p:nvSpPr>
          <p:cNvPr id="20" name="Text 17"/>
          <p:cNvSpPr/>
          <p:nvPr/>
        </p:nvSpPr>
        <p:spPr>
          <a:xfrm>
            <a:off x="4846320" y="4663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Grimm 2010; Fowler 2007; Hume 2000</a:t>
            </a:r>
            <a:endParaRPr lang="en-US" sz="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6C045F-1914-BC99-840C-537F60397842}"/>
              </a:ext>
            </a:extLst>
          </p:cNvPr>
          <p:cNvSpPr txBox="1"/>
          <p:nvPr/>
        </p:nvSpPr>
        <p:spPr>
          <a:xfrm>
            <a:off x="521209" y="924416"/>
            <a:ext cx="4050792" cy="127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Obituaries are unguarded reflections of what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a life meant.</a:t>
            </a:r>
            <a:endParaRPr lang="en-US" sz="2200" b="1" dirty="0">
              <a:latin typeface="Montserrat" panose="00000500000000000000" pitchFamily="2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EFAD71E-B374-1F5C-008E-B5AA93C4C747}"/>
              </a:ext>
            </a:extLst>
          </p:cNvPr>
          <p:cNvGrpSpPr/>
          <p:nvPr/>
        </p:nvGrpSpPr>
        <p:grpSpPr>
          <a:xfrm>
            <a:off x="1069848" y="2203677"/>
            <a:ext cx="2867030" cy="2421048"/>
            <a:chOff x="1069848" y="2309916"/>
            <a:chExt cx="2867030" cy="2421048"/>
          </a:xfrm>
        </p:grpSpPr>
        <p:pic>
          <p:nvPicPr>
            <p:cNvPr id="3" name="Image 0" descr="/home/claude/obituary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069848" y="2309916"/>
              <a:ext cx="2867030" cy="2421048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06275FF-3A3A-BAD4-5061-105F0E7AF314}"/>
                </a:ext>
              </a:extLst>
            </p:cNvPr>
            <p:cNvSpPr/>
            <p:nvPr/>
          </p:nvSpPr>
          <p:spPr>
            <a:xfrm>
              <a:off x="1069848" y="2435961"/>
              <a:ext cx="35661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sequential analytical pipeline.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377440" cy="1554480"/>
          </a:xfrm>
          <a:prstGeom prst="rect">
            <a:avLst/>
          </a:prstGeom>
          <a:solidFill>
            <a:srgbClr val="2E3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Scraping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~240K obituaries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currentobituary.com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6324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474720" y="1371600"/>
            <a:ext cx="2377440" cy="1554480"/>
          </a:xfrm>
          <a:prstGeom prst="rect">
            <a:avLst/>
          </a:prstGeom>
          <a:solidFill>
            <a:srgbClr val="2E3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18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7764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Clean, classify gender,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lemmatize, remove names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2377440" cy="1554480"/>
          </a:xfrm>
          <a:prstGeom prst="rect">
            <a:avLst/>
          </a:prstGeom>
          <a:solidFill>
            <a:srgbClr val="2E3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465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8E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1228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Distributions, genre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 validation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solidFill>
            <a:srgbClr val="4ECDC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Steps 1–3 form the foundation for both hypotheses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3794760" cy="1234440"/>
          </a:xfrm>
          <a:prstGeom prst="rect">
            <a:avLst/>
          </a:prstGeom>
          <a:solidFill>
            <a:srgbClr val="2E3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" y="3611880"/>
            <a:ext cx="64008" cy="1234440"/>
          </a:xfrm>
          <a:prstGeom prst="rect">
            <a:avLst/>
          </a:prstGeom>
          <a:solidFill>
            <a:srgbClr val="F2D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4a  H1 — Overall Convergence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TF-IDF → centroids → cosine similarity → OLS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2D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CosineSim = α + β₁·Year + ε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00095" y="3931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4709160" y="3611880"/>
            <a:ext cx="3794760" cy="1234440"/>
          </a:xfrm>
          <a:prstGeom prst="rect">
            <a:avLst/>
          </a:prstGeom>
          <a:solidFill>
            <a:srgbClr val="2E3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3611880"/>
            <a:ext cx="64008" cy="1234440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8348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4b  H2 — Domain Drivers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Dictionary density + Female × Year interactions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4343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β₀ + β₁F + Σγₜ·Dₜ + Σδₜ·(F×Dₜ) + ε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PREPROCESSING</a:t>
            </a:r>
            <a:endParaRPr lang="en-US" sz="1100" dirty="0">
              <a:solidFill>
                <a:schemeClr val="accent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turn raw text into structured data.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120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874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4C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4068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 names, dates, places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0" y="2331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Strip memorial/funeral details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27889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Classify gender (name + relational terms)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Lemmatize text, remove stop words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3703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 thematic terms via dictionaries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4160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 TF-IDF vectors per year × gender</a:t>
            </a:r>
            <a:endParaRPr lang="en-US" sz="11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C9BFA1-63EC-5EB6-AA9D-8B1DBEFAE969}"/>
              </a:ext>
            </a:extLst>
          </p:cNvPr>
          <p:cNvGrpSpPr/>
          <p:nvPr/>
        </p:nvGrpSpPr>
        <p:grpSpPr>
          <a:xfrm>
            <a:off x="749806" y="1188720"/>
            <a:ext cx="3763670" cy="3703320"/>
            <a:chOff x="457200" y="1188720"/>
            <a:chExt cx="3763670" cy="3703320"/>
          </a:xfrm>
        </p:grpSpPr>
        <p:sp>
          <p:nvSpPr>
            <p:cNvPr id="20" name="Shape 1">
              <a:extLst>
                <a:ext uri="{FF2B5EF4-FFF2-40B4-BE49-F238E27FC236}">
                  <a16:creationId xmlns:a16="http://schemas.microsoft.com/office/drawing/2014/main" id="{062C88A0-9500-973B-8B23-26E368D7582F}"/>
                </a:ext>
              </a:extLst>
            </p:cNvPr>
            <p:cNvSpPr/>
            <p:nvPr/>
          </p:nvSpPr>
          <p:spPr>
            <a:xfrm>
              <a:off x="457200" y="1188720"/>
              <a:ext cx="3763670" cy="37033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1" name="Text 2">
              <a:extLst>
                <a:ext uri="{FF2B5EF4-FFF2-40B4-BE49-F238E27FC236}">
                  <a16:creationId xmlns:a16="http://schemas.microsoft.com/office/drawing/2014/main" id="{7F3560CB-779E-5D5C-0E2E-3E9565658905}"/>
                </a:ext>
              </a:extLst>
            </p:cNvPr>
            <p:cNvSpPr/>
            <p:nvPr/>
          </p:nvSpPr>
          <p:spPr>
            <a:xfrm>
              <a:off x="640080" y="1347826"/>
              <a:ext cx="3429122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8A8EA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Sample Obituary</a:t>
              </a:r>
              <a:endParaRPr lang="en-US" sz="900" dirty="0"/>
            </a:p>
          </p:txBody>
        </p:sp>
        <p:sp>
          <p:nvSpPr>
            <p:cNvPr id="22" name="Text 3">
              <a:extLst>
                <a:ext uri="{FF2B5EF4-FFF2-40B4-BE49-F238E27FC236}">
                  <a16:creationId xmlns:a16="http://schemas.microsoft.com/office/drawing/2014/main" id="{40F15280-44AD-F9D0-2024-07FC27511AEF}"/>
                </a:ext>
              </a:extLst>
            </p:cNvPr>
            <p:cNvSpPr/>
            <p:nvPr/>
          </p:nvSpPr>
          <p:spPr>
            <a:xfrm>
              <a:off x="622935" y="1536192"/>
              <a:ext cx="3463413" cy="3127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900" b="1" dirty="0">
                  <a:solidFill>
                    <a:schemeClr val="tx1">
                      <a:lumMod val="50000"/>
                    </a:schemeClr>
                  </a:solidFill>
                  <a:highlight>
                    <a:srgbClr val="0000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Robert E. Behler</a:t>
              </a:r>
              <a:r>
                <a:rPr lang="en-US" sz="900" b="1" dirty="0">
                  <a:solidFill>
                    <a:srgbClr val="2E335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75</a:t>
              </a:r>
              <a:endParaRPr lang="en-US" sz="9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800" dirty="0">
                  <a:solidFill>
                    <a:srgbClr val="2E335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of Holliston passed away peacefully on August 21, 2023.</a:t>
              </a:r>
              <a:endParaRPr lang="en-US" sz="900" dirty="0"/>
            </a:p>
            <a:p>
              <a:pPr marL="0" indent="0">
                <a:lnSpc>
                  <a:spcPct val="130000"/>
                </a:lnSpc>
                <a:buNone/>
              </a:pPr>
              <a:endParaRPr lang="en-US" sz="9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800" dirty="0">
                  <a:solidFill>
                    <a:srgbClr val="E67E22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His favorite titles were "Dad" and "Grandpa." He reveled in family dinners and seized opportunities to share his passion for science with his granddaughter.</a:t>
              </a:r>
              <a:endParaRPr lang="en-US" sz="900" dirty="0"/>
            </a:p>
            <a:p>
              <a:pPr marL="0" indent="0">
                <a:lnSpc>
                  <a:spcPct val="130000"/>
                </a:lnSpc>
                <a:buNone/>
              </a:pPr>
              <a:endParaRPr lang="en-US" sz="9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800" dirty="0">
                  <a:solidFill>
                    <a:srgbClr val="3498DB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 lifelong learner... He went on to pursue an Engineering degree and later an MBA. He spent the last two decades of his career in IT at Raytheon.</a:t>
              </a:r>
              <a:endParaRPr lang="en-US" sz="900" dirty="0"/>
            </a:p>
            <a:p>
              <a:pPr marL="0" indent="0">
                <a:lnSpc>
                  <a:spcPct val="130000"/>
                </a:lnSpc>
                <a:buNone/>
              </a:pPr>
              <a:endParaRPr lang="en-US" sz="9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800" dirty="0">
                  <a:solidFill>
                    <a:srgbClr val="4ECDC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He piloted Cessna planes, delved into scuba diving, explored the globe with his daughter, and tinkered at his electronics work bench.</a:t>
              </a:r>
              <a:endParaRPr lang="en-US" sz="900" dirty="0"/>
            </a:p>
            <a:p>
              <a:pPr marL="0" indent="0">
                <a:lnSpc>
                  <a:spcPct val="130000"/>
                </a:lnSpc>
                <a:buNone/>
              </a:pPr>
              <a:endParaRPr lang="en-US" sz="9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800" dirty="0">
                  <a:solidFill>
                    <a:srgbClr val="E67E22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He is survived by his daughter, </a:t>
              </a:r>
              <a:r>
                <a:rPr lang="en-US" sz="800" dirty="0">
                  <a:solidFill>
                    <a:srgbClr val="2E3350"/>
                  </a:solidFill>
                  <a:highlight>
                    <a:srgbClr val="0000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Alaine</a:t>
              </a:r>
              <a:r>
                <a:rPr lang="en-US" sz="800" dirty="0">
                  <a:solidFill>
                    <a:srgbClr val="E67E22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son-in-law </a:t>
              </a:r>
              <a:r>
                <a:rPr lang="en-US" sz="800" dirty="0">
                  <a:solidFill>
                    <a:srgbClr val="2E3350"/>
                  </a:solidFill>
                  <a:highlight>
                    <a:srgbClr val="0000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Brennan</a:t>
              </a:r>
              <a:r>
                <a:rPr lang="en-US" sz="800" dirty="0">
                  <a:solidFill>
                    <a:srgbClr val="E67E22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and his beloved granddaughters </a:t>
              </a:r>
              <a:r>
                <a:rPr lang="en-US" sz="800" dirty="0">
                  <a:solidFill>
                    <a:srgbClr val="2E3350"/>
                  </a:solidFill>
                  <a:highlight>
                    <a:srgbClr val="0000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Page</a:t>
              </a:r>
              <a:r>
                <a:rPr lang="en-US" sz="800" dirty="0">
                  <a:solidFill>
                    <a:srgbClr val="E67E22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and </a:t>
              </a:r>
              <a:r>
                <a:rPr lang="en-US" sz="800" dirty="0">
                  <a:solidFill>
                    <a:srgbClr val="2E3350"/>
                  </a:solidFill>
                  <a:highlight>
                    <a:srgbClr val="0000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Skye</a:t>
              </a:r>
              <a:r>
                <a:rPr lang="en-US" sz="800" dirty="0">
                  <a:solidFill>
                    <a:srgbClr val="E67E22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.</a:t>
              </a:r>
              <a:endParaRPr lang="en-US" sz="900" dirty="0"/>
            </a:p>
          </p:txBody>
        </p:sp>
        <p:sp>
          <p:nvSpPr>
            <p:cNvPr id="23" name="Text 4">
              <a:extLst>
                <a:ext uri="{FF2B5EF4-FFF2-40B4-BE49-F238E27FC236}">
                  <a16:creationId xmlns:a16="http://schemas.microsoft.com/office/drawing/2014/main" id="{D1A7DDBB-148B-DB7D-E7FC-79296624B7AD}"/>
                </a:ext>
              </a:extLst>
            </p:cNvPr>
            <p:cNvSpPr/>
            <p:nvPr/>
          </p:nvSpPr>
          <p:spPr>
            <a:xfrm>
              <a:off x="640080" y="4640580"/>
              <a:ext cx="3429122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E67E22"/>
                  </a:solidFill>
                </a:rPr>
                <a:t>●</a:t>
              </a:r>
              <a:r>
                <a:rPr lang="en-US" sz="700" dirty="0">
                  <a:solidFill>
                    <a:srgbClr val="8A8EA6"/>
                  </a:solidFill>
                </a:rPr>
                <a:t> Family  </a:t>
              </a:r>
              <a:r>
                <a:rPr lang="en-US" sz="900" dirty="0">
                  <a:solidFill>
                    <a:srgbClr val="3498DB"/>
                  </a:solidFill>
                </a:rPr>
                <a:t>●</a:t>
              </a:r>
              <a:r>
                <a:rPr lang="en-US" sz="700" dirty="0">
                  <a:solidFill>
                    <a:srgbClr val="8A8EA6"/>
                  </a:solidFill>
                </a:rPr>
                <a:t> Professional  </a:t>
              </a:r>
              <a:r>
                <a:rPr lang="en-US" sz="900" dirty="0">
                  <a:solidFill>
                    <a:srgbClr val="4ECDC4"/>
                  </a:solidFill>
                </a:rPr>
                <a:t>●</a:t>
              </a:r>
              <a:r>
                <a:rPr lang="en-US" sz="700" dirty="0">
                  <a:solidFill>
                    <a:srgbClr val="8A8EA6"/>
                  </a:solidFill>
                </a:rPr>
                <a:t> Lifestyle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language gap is closing.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got here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 preprocessing, for each year: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Fit year-specific TF-IDF vectorizer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Create male and female centroid vectors (mean DTM)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Compute cosine similarity between centroids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Regress similarity scores on year (OLS)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1645920" cy="594360"/>
          </a:xfrm>
          <a:prstGeom prst="rect">
            <a:avLst/>
          </a:prstGeom>
          <a:solidFill>
            <a:srgbClr val="2E3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858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R² = 0.741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74% explained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0" y="3840480"/>
            <a:ext cx="1645920" cy="594360"/>
          </a:xfrm>
          <a:prstGeom prst="rect">
            <a:avLst/>
          </a:prstGeom>
          <a:solidFill>
            <a:srgbClr val="2E3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3858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 &lt; 0.001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Significant</a:t>
            </a:r>
            <a:endParaRPr lang="en-US" sz="8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297680" y="1188720"/>
          <a:ext cx="45720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"/>
          <p:cNvGraphicFramePr/>
          <p:nvPr/>
        </p:nvGraphicFramePr>
        <p:xfrm>
          <a:off x="4297680" y="3108960"/>
          <a:ext cx="45720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 10"/>
          <p:cNvSpPr/>
          <p:nvPr/>
        </p:nvSpPr>
        <p:spPr>
          <a:xfrm>
            <a:off x="640080" y="4709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Cosine similarity rose from 0.77 in 2001 to 0.88 in 2025 — a steady, significant convergence.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all themes converge equally.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got here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4 thematic dictionaries: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Family, Professional, Religion, Lifestyle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Compute lexical density per document per theme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Pool both genders, add year dummies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Add Female × Year interaction terms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OLS regression per domain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Male = omitted category, 2001 = base year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Professional: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NARROWING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23160" y="4023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Lifestyle: 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2900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CONVERGING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Family: 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4434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PERSISTENT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23160" y="4434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Religion: 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4434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STICKY</a:t>
            </a:r>
            <a:endParaRPr lang="en-US" sz="9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4389120" y="1188720"/>
          <a:ext cx="219456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"/>
          <p:cNvGraphicFramePr/>
          <p:nvPr/>
        </p:nvGraphicFramePr>
        <p:xfrm>
          <a:off x="6675120" y="1188720"/>
          <a:ext cx="219456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2"/>
          <p:cNvGraphicFramePr/>
          <p:nvPr/>
        </p:nvGraphicFramePr>
        <p:xfrm>
          <a:off x="4389120" y="2926080"/>
          <a:ext cx="219456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Chart 3"/>
          <p:cNvGraphicFramePr/>
          <p:nvPr/>
        </p:nvGraphicFramePr>
        <p:xfrm>
          <a:off x="6675120" y="2926080"/>
          <a:ext cx="219456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8" name="Text 12"/>
          <p:cNvSpPr/>
          <p:nvPr/>
        </p:nvSpPr>
        <p:spPr>
          <a:xfrm>
            <a:off x="4389120" y="4709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98DB"/>
                </a:solidFill>
              </a:rPr>
              <a:t>●</a:t>
            </a:r>
            <a:r>
              <a:rPr lang="en-US" sz="900" dirty="0">
                <a:solidFill>
                  <a:srgbClr val="8A8EA6"/>
                </a:solidFill>
              </a:rPr>
              <a:t> Male   </a:t>
            </a:r>
            <a:r>
              <a:rPr lang="en-US" sz="1200" dirty="0">
                <a:solidFill>
                  <a:srgbClr val="E74C3C"/>
                </a:solidFill>
              </a:rPr>
              <a:t>●</a:t>
            </a:r>
            <a:r>
              <a:rPr lang="en-US" sz="900" dirty="0">
                <a:solidFill>
                  <a:srgbClr val="8A8EA6"/>
                </a:solidFill>
              </a:rPr>
              <a:t> Female   |   Lexical density by gender × year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457200" y="3268608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25880" y="334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Finalize Paper &amp; Visualizations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363436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0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Polish charts for the final report, strengthen integration between motivation, theory, and findings.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AB5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B5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we go from here.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5AB5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Refine Dictionary Lexicons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0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 theme-based word lists using LDA topic outputs from the full corpus to ensure comprehensive coverage.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F2D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496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Further Refine H2 Regression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788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0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regressions with obituary-year fixed effects.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B8BD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B8BDE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560320"/>
            <a:ext cx="3474720" cy="3474720"/>
          </a:xfrm>
          <a:prstGeom prst="ellipse">
            <a:avLst/>
          </a:prstGeom>
          <a:solidFill>
            <a:srgbClr val="4ECDC4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Between the Lines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words we choose to remember the dead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reveal how the living see the world.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645920" cy="54864"/>
          </a:xfrm>
          <a:prstGeom prst="rect">
            <a:avLst/>
          </a:prstGeom>
          <a:solidFill>
            <a:srgbClr val="F2D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you. Questions?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APPENDIX A1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&amp; Scraping Sources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currentobituary.com (US-wide aggregator)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 scraper — no API. Each record: full text, date, name, location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[PLACEHOLDER: Screenshot of source website]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[PLACEHOLDER: Sample raw record JSON/CSV]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APPENDIX A2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Preprocessing Technical Details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solidFill>
            <a:srgbClr val="363B5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HTML/special character cleaning → name removal → age extraction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Gender classification: name-based + relational term validation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Memorial detail removal: funeral logistics inflated religion scores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[PLACEHOLDER: Before/after code snippet of raw vs. cleaned text]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APPENDIX A3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Assumptions + COVID Diagnostics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solidFill>
            <a:srgbClr val="363B5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Assumption: death is random across gender within each year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COVID 2020–2021: male mortality disproportionately higher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[PLACEHOLDER: Age distribution plot by gender over time]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[PLACEHOLDER: Gender ratio per year chart]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APPENDIX A4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Category Model &amp; Dictionary Documentation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solidFill>
            <a:srgbClr val="363B5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Religion (33), Professional (31), Family (31), Lifestyle (40 terms)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[PLACEHOLDER: Full dictionary term lists as table]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Validation: (1) Empath check (2) expert review (3) concrete terms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APPENDIX A5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"Why Not LDA?" Comparison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solidFill>
            <a:srgbClr val="363B5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Short docs (150–300 words) → unreliable topic distributions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Incoherent topics: LDA mixed military, family, memorial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Genre vocabulary dominance: brother, sister, wife in every topic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[PLACEHOLDER: LDA coherence scores comparison]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APPENDIX A6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Regression Specs &amp; Coefficient Tables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solidFill>
            <a:srgbClr val="363B5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H1: CosineSim = α + β₁·Year + ε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[PLACEHOLDER: Full OLS summary table for H1]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H2: Y = β₀ + β₁·Female + Σγₜ·D(Year=t) + Σδₜ·(F×D(Year=t)) + ε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[PLACEHOLDER: Coefficient tables for all 4 domains]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APPENDIX A7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Early EDA &amp; Discarded Approaches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solidFill>
            <a:srgbClr val="363B5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[PLACEHOLDER: Obituary length distribution by gender over time]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[PLACEHOLDER: Age-at-death distribution confirming min-70 filter]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Discarded: n-gram approaches, sentiment analysis (too coarse)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APPENDIX A8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Stanford Empath Robustness Check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solidFill>
            <a:srgbClr val="363B5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Pre-trained model: ~200 categories via word embeddings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[PLACEHOLDER: Empath category mapping to our 4 pillars]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[PLACEHOLDER: Empath vs. dictionary trend comparison]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OM">
  <a:themeElements>
    <a:clrScheme name="POMFem3">
      <a:dk1>
        <a:srgbClr val="353A4C"/>
      </a:dk1>
      <a:lt1>
        <a:srgbClr val="FAF9F6"/>
      </a:lt1>
      <a:dk2>
        <a:srgbClr val="88A097"/>
      </a:dk2>
      <a:lt2>
        <a:srgbClr val="E3EAE5"/>
      </a:lt2>
      <a:accent1>
        <a:srgbClr val="7FB3D5"/>
      </a:accent1>
      <a:accent2>
        <a:srgbClr val="C2D4C2"/>
      </a:accent2>
      <a:accent3>
        <a:srgbClr val="68B3A5"/>
      </a:accent3>
      <a:accent4>
        <a:srgbClr val="9EA7D8"/>
      </a:accent4>
      <a:accent5>
        <a:srgbClr val="739AC5"/>
      </a:accent5>
      <a:accent6>
        <a:srgbClr val="AFCDE7"/>
      </a:accent6>
      <a:hlink>
        <a:srgbClr val="4169E1"/>
      </a:hlink>
      <a:folHlink>
        <a:srgbClr val="6D5EA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M" id="{31A856C4-3ABD-4161-8C38-35ED8FBDF369}" vid="{FD5B901E-CADB-45C0-B693-00960C3B75CF}"/>
    </a:ext>
  </a:extLst>
</a:theme>
</file>

<file path=ppt/theme/theme2.xml><?xml version="1.0" encoding="utf-8"?>
<a:theme xmlns:a="http://schemas.openxmlformats.org/drawingml/2006/main" name="Office Theme">
  <a:themeElements>
    <a:clrScheme name="POM">
      <a:dk1>
        <a:srgbClr val="353A4C"/>
      </a:dk1>
      <a:lt1>
        <a:srgbClr val="FAF9F6"/>
      </a:lt1>
      <a:dk2>
        <a:srgbClr val="88A097"/>
      </a:dk2>
      <a:lt2>
        <a:srgbClr val="E3EAE5"/>
      </a:lt2>
      <a:accent1>
        <a:srgbClr val="7FB3D5"/>
      </a:accent1>
      <a:accent2>
        <a:srgbClr val="C2D4C2"/>
      </a:accent2>
      <a:accent3>
        <a:srgbClr val="68B3A5"/>
      </a:accent3>
      <a:accent4>
        <a:srgbClr val="9EA7D8"/>
      </a:accent4>
      <a:accent5>
        <a:srgbClr val="739AC5"/>
      </a:accent5>
      <a:accent6>
        <a:srgbClr val="AFCDE7"/>
      </a:accent6>
      <a:hlink>
        <a:srgbClr val="4169E1"/>
      </a:hlink>
      <a:folHlink>
        <a:srgbClr val="6D5EA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POM</Template>
  <TotalTime>33</TotalTime>
  <Words>1376</Words>
  <Application>Microsoft Office PowerPoint</Application>
  <PresentationFormat>On-screen Show (16:9)</PresentationFormat>
  <Paragraphs>229</Paragraphs>
  <Slides>19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Arial</vt:lpstr>
      <vt:lpstr>Calibri</vt:lpstr>
      <vt:lpstr>Courier New</vt:lpstr>
      <vt:lpstr>Montserrat</vt:lpstr>
      <vt:lpstr>POM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Between the Lines</dc:title>
  <dc:subject>PptxGenJS Presentation</dc:subject>
  <dc:creator>Majo Argote, Gal·la Gelpi, Cherryl Chico</dc:creator>
  <cp:lastModifiedBy>Mariajose Argote</cp:lastModifiedBy>
  <cp:revision>2</cp:revision>
  <dcterms:created xsi:type="dcterms:W3CDTF">2026-03-17T19:15:37Z</dcterms:created>
  <dcterms:modified xsi:type="dcterms:W3CDTF">2026-03-17T19:52:21Z</dcterms:modified>
</cp:coreProperties>
</file>