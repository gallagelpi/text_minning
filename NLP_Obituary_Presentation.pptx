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B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E6824-FA7F-475B-A311-1C29B85E38A7}" v="1" dt="2026-03-17T10:45:29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27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jose Argote" userId="bca0b3a3594cbf72" providerId="LiveId" clId="{B774E549-DD53-4416-BE4B-E4BBF35CC248}"/>
    <pc:docChg chg="undo redo custSel modSld">
      <pc:chgData name="Mariajose Argote" userId="bca0b3a3594cbf72" providerId="LiveId" clId="{B774E549-DD53-4416-BE4B-E4BBF35CC248}" dt="2026-03-17T10:50:23.384" v="104" actId="1035"/>
      <pc:docMkLst>
        <pc:docMk/>
      </pc:docMkLst>
      <pc:sldChg chg="modSp mod">
        <pc:chgData name="Mariajose Argote" userId="bca0b3a3594cbf72" providerId="LiveId" clId="{B774E549-DD53-4416-BE4B-E4BBF35CC248}" dt="2026-03-17T10:45:16.253" v="51" actId="20577"/>
        <pc:sldMkLst>
          <pc:docMk/>
          <pc:sldMk cId="0" sldId="259"/>
        </pc:sldMkLst>
        <pc:spChg chg="mod">
          <ac:chgData name="Mariajose Argote" userId="bca0b3a3594cbf72" providerId="LiveId" clId="{B774E549-DD53-4416-BE4B-E4BBF35CC248}" dt="2026-03-17T10:45:16.253" v="51" actId="20577"/>
          <ac:spMkLst>
            <pc:docMk/>
            <pc:sldMk cId="0" sldId="259"/>
            <ac:spMk id="3" creationId="{00000000-0000-0000-0000-000000000000}"/>
          </ac:spMkLst>
        </pc:spChg>
      </pc:sldChg>
      <pc:sldChg chg="delSp modSp mod">
        <pc:chgData name="Mariajose Argote" userId="bca0b3a3594cbf72" providerId="LiveId" clId="{B774E549-DD53-4416-BE4B-E4BBF35CC248}" dt="2026-03-17T10:50:23.384" v="104" actId="1035"/>
        <pc:sldMkLst>
          <pc:docMk/>
          <pc:sldMk cId="0" sldId="261"/>
        </pc:sldMkLst>
        <pc:spChg chg="mod">
          <ac:chgData name="Mariajose Argote" userId="bca0b3a3594cbf72" providerId="LiveId" clId="{B774E549-DD53-4416-BE4B-E4BBF35CC248}" dt="2026-03-17T10:50:23.384" v="104" actId="1035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50:23.384" v="104" actId="1035"/>
          <ac:spMkLst>
            <pc:docMk/>
            <pc:sldMk cId="0" sldId="261"/>
            <ac:spMk id="5" creationId="{00000000-0000-0000-0000-000000000000}"/>
          </ac:spMkLst>
        </pc:spChg>
        <pc:spChg chg="del">
          <ac:chgData name="Mariajose Argote" userId="bca0b3a3594cbf72" providerId="LiveId" clId="{B774E549-DD53-4416-BE4B-E4BBF35CC248}" dt="2026-03-17T10:49:47.883" v="55" actId="478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mod">
        <pc:chgData name="Mariajose Argote" userId="bca0b3a3594cbf72" providerId="LiveId" clId="{B774E549-DD53-4416-BE4B-E4BBF35CC248}" dt="2026-03-17T10:45:30.006" v="54" actId="12788"/>
        <pc:sldMkLst>
          <pc:docMk/>
          <pc:sldMk cId="0" sldId="262"/>
        </pc:sldMkLst>
        <pc:spChg chg="mod">
          <ac:chgData name="Mariajose Argote" userId="bca0b3a3594cbf72" providerId="LiveId" clId="{B774E549-DD53-4416-BE4B-E4BBF35CC248}" dt="2026-03-17T10:33:36.095" v="1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10:45:29.639" v="53" actId="164"/>
          <ac:spMkLst>
            <pc:docMk/>
            <pc:sldMk cId="0" sldId="262"/>
            <ac:spMk id="12" creationId="{00000000-0000-0000-0000-000000000000}"/>
          </ac:spMkLst>
        </pc:spChg>
        <pc:spChg chg="del">
          <ac:chgData name="Mariajose Argote" userId="bca0b3a3594cbf72" providerId="LiveId" clId="{B774E549-DD53-4416-BE4B-E4BBF35CC248}" dt="2026-03-17T10:45:25.117" v="52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Mariajose Argote" userId="bca0b3a3594cbf72" providerId="LiveId" clId="{B774E549-DD53-4416-BE4B-E4BBF35CC248}" dt="2026-03-17T10:45:25.117" v="52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Mariajose Argote" userId="bca0b3a3594cbf72" providerId="LiveId" clId="{B774E549-DD53-4416-BE4B-E4BBF35CC248}" dt="2026-03-17T10:45:25.117" v="52" actId="478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Mariajose Argote" userId="bca0b3a3594cbf72" providerId="LiveId" clId="{B774E549-DD53-4416-BE4B-E4BBF35CC248}" dt="2026-03-17T10:45:25.117" v="52" actId="478"/>
          <ac:spMkLst>
            <pc:docMk/>
            <pc:sldMk cId="0" sldId="262"/>
            <ac:spMk id="16" creationId="{00000000-0000-0000-0000-000000000000}"/>
          </ac:spMkLst>
        </pc:spChg>
        <pc:grpChg chg="add mod">
          <ac:chgData name="Mariajose Argote" userId="bca0b3a3594cbf72" providerId="LiveId" clId="{B774E549-DD53-4416-BE4B-E4BBF35CC248}" dt="2026-03-17T10:45:30.006" v="54" actId="12788"/>
          <ac:grpSpMkLst>
            <pc:docMk/>
            <pc:sldMk cId="0" sldId="262"/>
            <ac:grpSpMk id="17" creationId="{6B8F20E2-DE4C-02D8-4F7C-B7E1FB74F2A7}"/>
          </ac:grpSpMkLst>
        </pc:grpChg>
      </pc:sldChg>
      <pc:sldChg chg="mod modShow">
        <pc:chgData name="Mariajose Argote" userId="bca0b3a3594cbf72" providerId="LiveId" clId="{B774E549-DD53-4416-BE4B-E4BBF35CC248}" dt="2026-03-17T09:40:18.803" v="0" actId="729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81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B8BDE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5AB5A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the Lines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gender perception has evolved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US obituaries over 25 years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164592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 Argote  |  Cherryl Chico |  Gal.la Gelpi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Text Mining &amp; NLP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B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2E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has the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perception gap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men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women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changed in the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 25 years?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0.77 → 0.88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0" y="2468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cosine similarity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2001 vs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Preliminary evidence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convergence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760720" y="731520"/>
            <a:ext cx="3017520" cy="347472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423015-F026-E727-F94D-30529E772AEB}"/>
              </a:ext>
            </a:extLst>
          </p:cNvPr>
          <p:cNvSpPr/>
          <p:nvPr/>
        </p:nvSpPr>
        <p:spPr>
          <a:xfrm>
            <a:off x="6217920" y="3110459"/>
            <a:ext cx="2131601" cy="318541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Surveys tell us what people think they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should</a:t>
            </a: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19" y="2516095"/>
            <a:ext cx="4649949" cy="70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surveys ask "What matters most to you?” people filter their answers through social expectations….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89320" y="1645919"/>
            <a:ext cx="2560320" cy="1689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the social desirability bias and it obscures how values actually evolve.</a:t>
            </a:r>
          </a:p>
        </p:txBody>
      </p:sp>
      <p:sp>
        <p:nvSpPr>
          <p:cNvPr id="10" name="Text 7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Social desirability bias in survey research — Grimm (2010)</a:t>
            </a:r>
            <a:endParaRPr lang="en-US" sz="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DA8CA10-F05A-A37F-256A-529132885F98}"/>
              </a:ext>
            </a:extLst>
          </p:cNvPr>
          <p:cNvSpPr/>
          <p:nvPr/>
        </p:nvSpPr>
        <p:spPr>
          <a:xfrm>
            <a:off x="731520" y="3429000"/>
            <a:ext cx="4572000" cy="70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b="1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1371600"/>
            <a:ext cx="5486400" cy="5486400"/>
          </a:xfrm>
          <a:prstGeom prst="ellipse">
            <a:avLst/>
          </a:prstGeom>
          <a:solidFill>
            <a:srgbClr val="B8BDE8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 are unguarded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reflections of what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life meant.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518345"/>
            <a:ext cx="44715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writer is not performing for a researcher, they are memorializing a real human life.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 = less filtered window into actual cultural values.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731520"/>
            <a:ext cx="2651760" cy="11430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0" y="109353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~240K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17920" y="7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2651760" cy="11430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51085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2001–2025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2189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span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566160"/>
            <a:ext cx="2651760" cy="11430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92817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B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US-wide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3606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coverage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19" y="822960"/>
            <a:ext cx="781994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 capture two voices at once.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657600" cy="73152"/>
          </a:xfrm>
          <a:prstGeom prst="rect">
            <a:avLst/>
          </a:prstGeom>
          <a:solidFill>
            <a:srgbClr val="3D44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23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Deceased's Life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actual achievements, relationships, and milestones that defined someone's time on earth.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1031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2103120"/>
            <a:ext cx="3657600" cy="73152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Writer's Values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7492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cultural expectations of the present moment — what the writer thinks makes a life worth celebrating.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D9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dual authorship is not a limitation — it IS the phenomenon we study.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914400"/>
            <a:ext cx="5029200" cy="5029200"/>
          </a:xfrm>
          <a:prstGeom prst="ellipse">
            <a:avLst/>
          </a:prstGeom>
          <a:solidFill>
            <a:srgbClr val="B8BDE8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CLAIM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982253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 between how men's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women's lives are narrated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narrowing.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3811053"/>
            <a:ext cx="182880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44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44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HYPOTHESES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Hypotheses.</a:t>
            </a:r>
            <a:endParaRPr lang="en-US" sz="2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8F20E2-DE4C-02D8-4F7C-B7E1FB74F2A7}"/>
              </a:ext>
            </a:extLst>
          </p:cNvPr>
          <p:cNvGrpSpPr/>
          <p:nvPr/>
        </p:nvGrpSpPr>
        <p:grpSpPr>
          <a:xfrm>
            <a:off x="1851660" y="1691640"/>
            <a:ext cx="5440680" cy="2560320"/>
            <a:chOff x="457200" y="1691640"/>
            <a:chExt cx="5440680" cy="2560320"/>
          </a:xfrm>
        </p:grpSpPr>
        <p:sp>
          <p:nvSpPr>
            <p:cNvPr id="5" name="Shape 3"/>
            <p:cNvSpPr/>
            <p:nvPr/>
          </p:nvSpPr>
          <p:spPr>
            <a:xfrm>
              <a:off x="457200" y="1691640"/>
              <a:ext cx="2606040" cy="2560320"/>
            </a:xfrm>
            <a:prstGeom prst="rect">
              <a:avLst/>
            </a:prstGeom>
            <a:solidFill>
              <a:srgbClr val="3D4466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1691640"/>
              <a:ext cx="2606040" cy="502920"/>
            </a:xfrm>
            <a:prstGeom prst="rect">
              <a:avLst/>
            </a:prstGeom>
            <a:solidFill>
              <a:srgbClr val="F2D06B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H1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2331720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Overall Convergence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2743200"/>
              <a:ext cx="2240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100" dirty="0">
                  <a:solidFill>
                    <a:srgbClr val="D5D8F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language used to describe men and women in obituaries is becoming more similar over time.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91840" y="1691640"/>
              <a:ext cx="2606040" cy="2560320"/>
            </a:xfrm>
            <a:prstGeom prst="rect">
              <a:avLst/>
            </a:prstGeom>
            <a:solidFill>
              <a:srgbClr val="3D4466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3291840" y="1691640"/>
              <a:ext cx="2606040" cy="502920"/>
            </a:xfrm>
            <a:prstGeom prst="rect">
              <a:avLst/>
            </a:prstGeom>
            <a:solidFill>
              <a:srgbClr val="5AB5A8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H2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474720" y="2331720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Theme-Specific Patterns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4720" y="2743200"/>
              <a:ext cx="2240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en-US" sz="1100" dirty="0">
                  <a:solidFill>
                    <a:srgbClr val="D5D8F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Convergence is not uniform — Professional and Lifestyle themes converge faster than Family and Religion.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three-step analytical pipeline.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292608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64008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Descriptive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Corpus overview, summary statistics, obituary length &amp; gender distribution across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645920"/>
            <a:ext cx="2697480" cy="292608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645920"/>
            <a:ext cx="2697480" cy="64008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04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202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Dictionary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044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Theme-based lexicons (Family, Professional, Religion, Lifestyle) measure lexical density by gender × year.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645920"/>
            <a:ext cx="2697480" cy="292608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17920" y="1645920"/>
            <a:ext cx="2697480" cy="64008"/>
          </a:xfrm>
          <a:prstGeom prst="rect">
            <a:avLst/>
          </a:prstGeom>
          <a:solidFill>
            <a:srgbClr val="B8B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B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9202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cosine similarity + OLS regression to measure and test convergence trend (year fixed effects).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Minimum age filter: 70 years  |  Lemmatized text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language gap is closing.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1461" y="126966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Cosine Similarity: Male vs Female Obituary Language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2001–2025 with regression trend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2651760" cy="141732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 = 0.741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alone explains 74% of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variance in similarity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3063240"/>
            <a:ext cx="2651760" cy="141732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 &lt; 0.001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Statistically significant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upward trend (coef = 0.0036)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9B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Cosine similarity rose from 0.77 in 2001 to 0.88 in 2025 — a steady, significant convergence.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921A64-F679-B6CF-5EC2-2F12C111E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24" y="1931539"/>
            <a:ext cx="4935624" cy="24118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1  | 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explains the convergence.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OLS Regression Results: Cosine Similarity ~ Year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Coefficient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Std Error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t-stat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Intercept (const)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-6.4558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-7.170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0.001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(x₁)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+0.0036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8.114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0.001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2697480"/>
            <a:ext cx="7680960" cy="13716"/>
          </a:xfrm>
          <a:prstGeom prst="rect">
            <a:avLst/>
          </a:prstGeom>
          <a:solidFill>
            <a:srgbClr val="8A8E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Model: R² = 0.741  |  Adj. R² = 0.730  |  F-stat = 65.84  |  N = 25 years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passing year increases the cosine similarity by 0.36 percentage points.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44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44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all themes converge equally.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150876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Career, education, and military terms show convergence — women's professional lives are increasingly celebrated.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73152" cy="1508760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Lifestyle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Hobbies, travel, and interests are described more similarly across genders over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73152" cy="1508760"/>
          </a:xfrm>
          <a:prstGeom prst="rect">
            <a:avLst/>
          </a:prstGeom>
          <a:solidFill>
            <a:srgbClr val="B8B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 language remains gendered — motherhood and fatherhood are still narrated differently.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73152" cy="1508760"/>
          </a:xfrm>
          <a:prstGeom prst="rect">
            <a:avLst/>
          </a:prstGeom>
          <a:solidFill>
            <a:srgbClr val="3D44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Religion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703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Religious language shows the least change — spiritual vocabulary remains relatively stable by gender.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Dictionary-based lexical density analysis by gender × year (min age: 70)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2  |  THEME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Longitudinal thematic convergence.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6002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4572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[CHART: Professional]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vs Female lexical density (2001–2025)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4114800" cy="16002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114800" cy="45720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[CHART: Lifestyle]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vs Female lexical density (2001–2025)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4114800" cy="16002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4114800" cy="45720"/>
          </a:xfrm>
          <a:prstGeom prst="rect">
            <a:avLst/>
          </a:prstGeom>
          <a:solidFill>
            <a:srgbClr val="B8B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[CHART: Family]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vs Female lexical density (2001–2025)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4114800" cy="1600200"/>
          </a:xfrm>
          <a:prstGeom prst="rect">
            <a:avLst/>
          </a:prstGeom>
          <a:solidFill>
            <a:srgbClr val="3D446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4114800" cy="45720"/>
          </a:xfrm>
          <a:prstGeom prst="rect">
            <a:avLst/>
          </a:prstGeom>
          <a:solidFill>
            <a:srgbClr val="3D44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[CHART: Religion]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vs Female lexical density (2001–2025)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(blue line)   |   Female (red line)   |   Converging = lines moving closer together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B8B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858000" cy="6858000"/>
          </a:xfrm>
          <a:prstGeom prst="ellipse">
            <a:avLst/>
          </a:prstGeom>
          <a:solidFill>
            <a:srgbClr val="2E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traditional linguistic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boundaries are eroding.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not just a data pattern — it reflects a genuine societal shift toward a more unified view of what makes a life worth celebrating, regardless of gender.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some boundaries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0" y="25603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 and Religion remain gendered domains — motherhood and fatherhood are still narrated through different lenses. The convergence is real, but it's uneven.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457200" y="326860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25880" y="334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 Paper &amp; Visualizations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6343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Polish charts for the final report, strengthen integration between motivation, theory, and findings.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go from here.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 Dictionary Lexicons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theme-based word lists using LDA topic outputs from the full corpus to ensure comprehensive coverage.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496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Writer-Era Effect (H3)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788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regressions with obituary-year fixed effects to disentangle the writer's era from the deceased's generation.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B8B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B8BDE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5AB5A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the Lines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64592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words we choose to remember the dead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reveal how the living see the world.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853</Words>
  <Application>Microsoft Office PowerPoint</Application>
  <PresentationFormat>On-screen Show (16:9)</PresentationFormat>
  <Paragraphs>161</Paragraphs>
  <Slides>15</Slides>
  <Notes>15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Between the Lines: Gender Perception in US Obituaries</dc:title>
  <dc:subject>PptxGenJS Presentation</dc:subject>
  <dc:creator>Argote, Chico, Gelpi</dc:creator>
  <cp:lastModifiedBy>Mariajose Argote</cp:lastModifiedBy>
  <cp:revision>2</cp:revision>
  <dcterms:created xsi:type="dcterms:W3CDTF">2026-03-17T09:15:43Z</dcterms:created>
  <dcterms:modified xsi:type="dcterms:W3CDTF">2026-03-17T10:50:29Z</dcterms:modified>
</cp:coreProperties>
</file>