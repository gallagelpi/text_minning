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</p:sldMasterIdLst>
  <p:notesMasterIdLst>
    <p:notesMasterId r:id="rId22"/>
  </p:notesMasterIdLst>
  <p:sldIdLst>
    <p:sldId id="256" r:id="rId3"/>
    <p:sldId id="257" r:id="rId4"/>
    <p:sldId id="275" r:id="rId5"/>
    <p:sldId id="259" r:id="rId6"/>
    <p:sldId id="258" r:id="rId7"/>
    <p:sldId id="260" r:id="rId8"/>
    <p:sldId id="261" r:id="rId9"/>
    <p:sldId id="276" r:id="rId10"/>
    <p:sldId id="263" r:id="rId11"/>
    <p:sldId id="27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350"/>
    <a:srgbClr val="FFC000"/>
    <a:srgbClr val="FFFFFF"/>
    <a:srgbClr val="FFF2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96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jose Argote" userId="bca0b3a3594cbf72" providerId="LiveId" clId="{B774E549-DD53-4416-BE4B-E4BBF35CC248}"/>
    <pc:docChg chg="custSel modSld">
      <pc:chgData name="Mariajose Argote" userId="bca0b3a3594cbf72" providerId="LiveId" clId="{B774E549-DD53-4416-BE4B-E4BBF35CC248}" dt="2026-03-17T21:51:34.095" v="3" actId="478"/>
      <pc:docMkLst>
        <pc:docMk/>
      </pc:docMkLst>
      <pc:sldChg chg="delSp mod">
        <pc:chgData name="Mariajose Argote" userId="bca0b3a3594cbf72" providerId="LiveId" clId="{B774E549-DD53-4416-BE4B-E4BBF35CC248}" dt="2026-03-17T21:51:34.095" v="3" actId="478"/>
        <pc:sldMkLst>
          <pc:docMk/>
          <pc:sldMk cId="0" sldId="259"/>
        </pc:sldMkLst>
        <pc:spChg chg="del">
          <ac:chgData name="Mariajose Argote" userId="bca0b3a3594cbf72" providerId="LiveId" clId="{B774E549-DD53-4416-BE4B-E4BBF35CC248}" dt="2026-03-17T21:51:31.699" v="2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Mariajose Argote" userId="bca0b3a3594cbf72" providerId="LiveId" clId="{B774E549-DD53-4416-BE4B-E4BBF35CC248}" dt="2026-03-17T21:51:34.095" v="3" actId="478"/>
          <ac:spMkLst>
            <pc:docMk/>
            <pc:sldMk cId="0" sldId="259"/>
            <ac:spMk id="18" creationId="{00000000-0000-0000-0000-000000000000}"/>
          </ac:spMkLst>
        </pc:spChg>
      </pc:sldChg>
      <pc:sldChg chg="delSp modSp mod">
        <pc:chgData name="Mariajose Argote" userId="bca0b3a3594cbf72" providerId="LiveId" clId="{B774E549-DD53-4416-BE4B-E4BBF35CC248}" dt="2026-03-17T21:47:09.975" v="1" actId="1076"/>
        <pc:sldMkLst>
          <pc:docMk/>
          <pc:sldMk cId="0" sldId="265"/>
        </pc:sldMkLst>
        <pc:spChg chg="del">
          <ac:chgData name="Mariajose Argote" userId="bca0b3a3594cbf72" providerId="LiveId" clId="{B774E549-DD53-4416-BE4B-E4BBF35CC248}" dt="2026-03-17T21:47:04.700" v="0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riajose Argote" userId="bca0b3a3594cbf72" providerId="LiveId" clId="{B774E549-DD53-4416-BE4B-E4BBF35CC248}" dt="2026-03-17T21:47:09.975" v="1" actId="1076"/>
          <ac:spMkLst>
            <pc:docMk/>
            <pc:sldMk cId="0" sldId="265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33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question: how has perception changed? Two hypotheses with equations. Don't reveal results yet — the question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VOICEOVER MOTIVATION: The world feels more divided than ever. But is it? Surveys tell us what people think they should say — social desirability bias obscures real values. Families and communities choose what to highlight in obituaries — these choices give us a trace of what society values. That's why obituaries are better than surveys: unfiltered, structured genre, dual authorship.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FEE28-8107-17D6-DB34-92F2850E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8D51C-D7DF-C3CE-4F9B-F8F546803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69E03-A05B-A788-4D69-2450C769C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preprocessing: TF-IDF per year, male/female centroids, cosine similarity. Result: 0.77→0.88, R²=0.741, p&lt;0.001. Year explains 74% of variance.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FEB87-93FB-271D-ED43-A8D2AAAC5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27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AF39-3790-FF2C-4223-CB794B2B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4F8F3-DBE6-22EA-4093-B0FCD4CFF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42288-B6A8-918B-4303-C6D86447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8656B-BE86-4E40-BBFA-9259711E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83E8C-8128-A50D-0150-26E8332D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32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A76E-9060-F02A-0C20-1EC85A3C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A332-5D5F-E793-4592-CBB8C7EC9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1D245-3E68-91B6-0F1F-D216E904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49E99-CDA5-36F3-C552-5058601AA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4BA4-AAC5-4C3B-3064-BB6E28AC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220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60D-F6D2-2325-80AA-153CAE4E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39F47-1734-AB7C-EF8E-EF89F7FD2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09DB-6A68-1EFF-A3DC-06CBD118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3533-3E08-B6BA-5AD5-9CE1ACF8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DE315-EA98-B4B2-B474-F30E9F18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437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EE64-16B7-B73C-D92F-4B49FD64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33296-603F-7FCF-CC8F-76960187D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09706-FDE0-9B52-1551-C6C42108E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DFC4-EE8B-3C9B-6307-579A3382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EF819-FE6E-A60F-0592-B4F4C70B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AAF60-244C-ED69-9DCC-B9A04361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60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EBD5-ACA0-669D-194E-EB74100D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D893E-A63F-1BCE-66E1-5B0D0C57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B929C-F372-CD54-2816-3F8D84AEC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5421F-F38B-8689-1299-405938308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7D786-BFEB-52A2-3208-A88960377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E44C8-3CC9-DEC9-E435-A27C834C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7FAB7B-9A68-9B42-ED04-87567DBB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B521C-9392-0CFF-9714-340278380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110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A155-8FDC-70A4-AFBB-0A4730F9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66401-1984-C96C-15BE-9D01603B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9A8A4-15A3-A73E-78FE-97D9FED8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6F7D8-3DBE-4CF3-EB35-8173B4B9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472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8DD91-34E2-2C72-3A43-743F92B8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1D091-A536-EB05-D958-CE543FFE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8908F-B51B-1876-0E29-3679B166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826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D868-3F0F-4E6F-E765-A71C76B0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B0A0-D4DA-C9B8-3F2F-2887B3374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2B142-85F6-F82F-DDEE-A1AD5A081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7BEA-C2A4-6E2E-939A-5AD803DFF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8D63B-309F-340E-837A-BCFFB237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03836-B947-FDE6-CDB4-A31086A3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69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E93B-2FFD-8D72-09A4-0B208E03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F5EFE-058C-4B30-E21E-89A86BF87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3AD6F-9D14-E5D2-4DD9-505FD90E1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85FDD-2D26-0945-630A-0B7CCD80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4957B-3972-4AFB-AAD8-C66427899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8ADE3-33EA-9425-5A66-6CF9575B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100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ADA2-8AF5-6C31-E8AB-B5B18868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FA892-ACA5-E409-DFEC-6CC85FDD4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1F179-36AA-6192-434A-9B4970B9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7D549-6131-CB1E-D788-7F5EBEAD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85C28-75A8-C784-7803-0ABC66C6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906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01623-68B7-72F3-DCD9-FAC748F18A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3FF6D-7533-4907-47E1-C253F2236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DC4E6-B57A-A04F-F68D-0CBAD1D26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B4423-A6E7-61D2-61BC-17BB15B3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67885-9DCF-960C-6431-0B434131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051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100" kern="1200" spc="113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75"/>
            </a:lvl1pPr>
          </a:lstStyle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75"/>
            </a:lvl1pPr>
          </a:lstStyle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583706"/>
            <a:ext cx="7886700" cy="2808684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2663376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bg>
      <p:bgPr>
        <a:solidFill>
          <a:srgbClr val="FA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41265" y="241066"/>
            <a:ext cx="336714" cy="323034"/>
          </a:xfrm>
          <a:prstGeom prst="rect">
            <a:avLst/>
          </a:prstGeom>
        </p:spPr>
        <p:txBody>
          <a:bodyPr lIns="91375" tIns="91375" rIns="91375" bIns="91375" anchor="t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73190"/>
      </p:ext>
    </p:extLst>
  </p:cSld>
  <p:clrMapOvr>
    <a:masterClrMapping/>
  </p:clrMapOvr>
  <p:transition spd="med"/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752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04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A8E368F-3FC8-F522-2D30-02F6E424A773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005155940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08" imgH="408" progId="TCLayout.ActiveDocument.1">
                  <p:embed/>
                </p:oleObj>
              </mc:Choice>
              <mc:Fallback>
                <p:oleObj name="think-cell Slide" r:id="rId17" imgW="408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8E368F-3FC8-F522-2D30-02F6E424A7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4FBED-566E-41A0-B427-E1FBAEB2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E9F2-B783-F6A3-13A1-EACB20506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A283E-2127-9008-B6B4-FEB720707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F2C06-F9CB-AC46-A179-DCC6781D2B6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FD74F-B8C8-AF48-7649-80FF9FCC9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F8F5A-39FB-7DA6-4AFF-612D8F1A7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AF686-7495-0E4C-90EC-0E0266488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1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14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47447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the Lines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3228324"/>
            <a:ext cx="164592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425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 Argote  |  Gal·la Gelpi  |  Cherryl Chico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8625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Text Mining &amp; NLP  |  March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28EDD434-C12D-3B22-3592-116CDAC77E75}"/>
              </a:ext>
            </a:extLst>
          </p:cNvPr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B8BDE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85867B4-27E2-7C07-4054-82C275A466C8}"/>
              </a:ext>
            </a:extLst>
          </p:cNvPr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5AB5A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B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-1768840" y="914400"/>
            <a:ext cx="5029200" cy="5029200"/>
          </a:xfrm>
          <a:prstGeom prst="ellipse">
            <a:avLst/>
          </a:prstGeom>
          <a:solidFill>
            <a:schemeClr val="bg1">
              <a:alpha val="88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64008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4913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has the perception of men and women in the U.S. changed over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past 25 years?</a:t>
            </a:r>
            <a:endParaRPr lang="en-US" sz="3000" dirty="0"/>
          </a:p>
        </p:txBody>
      </p:sp>
      <p:sp>
        <p:nvSpPr>
          <p:cNvPr id="15" name="Shape 3"/>
          <p:cNvSpPr/>
          <p:nvPr/>
        </p:nvSpPr>
        <p:spPr>
          <a:xfrm>
            <a:off x="894913" y="3601574"/>
            <a:ext cx="182880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00" normalizeH="0" baseline="0" noProof="0" dirty="0">
                <a:ln>
                  <a:noFill/>
                </a:ln>
                <a:solidFill>
                  <a:srgbClr val="F2D06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CLAIM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2583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gap between how men's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women's lives are narrated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narrowing.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40080" y="3017520"/>
            <a:ext cx="3794760" cy="17373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40080" y="3017520"/>
            <a:ext cx="3794760" cy="54864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  Convergence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6868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Descriptions of men and women in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 are converging over time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868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CosineSim(Mₜ, Fₜ) = α + β₁·Yearₜ + εₜ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4709160" y="3017520"/>
            <a:ext cx="3794760" cy="17373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09160" y="3017520"/>
            <a:ext cx="3794760" cy="54864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93776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H2  Drivers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Convergence driven especially by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career/profession and family/lifestyle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Yᵢ = β₀ + β₁Fᵢ + Σγₜ·Dₜ + Σδₜ·(Fᵢ×Dₜ) + εᵢ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CORPUS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data inventory.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60320" cy="914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obituaries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~240K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560320" cy="914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span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2001–2025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2560320" cy="914400"/>
          </a:xfrm>
          <a:prstGeom prst="rect">
            <a:avLst/>
          </a:prstGeom>
          <a:solidFill>
            <a:srgbClr val="363B5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8E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US-wide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Variables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text, publication date, name, 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606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Derived / Extracted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 (M/F) — first name + relational terms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at death — extracted from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text_clean — lemmatized, names removed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thematic density scores per document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vectors per year × gender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OBITUARIES?</a:t>
            </a:r>
            <a:endParaRPr lang="en-US" sz="11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5B3BBB-8627-2D03-347B-C8A3FC3281BB}"/>
              </a:ext>
            </a:extLst>
          </p:cNvPr>
          <p:cNvGrpSpPr/>
          <p:nvPr/>
        </p:nvGrpSpPr>
        <p:grpSpPr>
          <a:xfrm>
            <a:off x="4846320" y="1175920"/>
            <a:ext cx="3840480" cy="3246120"/>
            <a:chOff x="4846320" y="1417320"/>
            <a:chExt cx="3840480" cy="3246120"/>
          </a:xfrm>
        </p:grpSpPr>
        <p:sp>
          <p:nvSpPr>
            <p:cNvPr id="5" name="Shape 2"/>
            <p:cNvSpPr/>
            <p:nvPr/>
          </p:nvSpPr>
          <p:spPr>
            <a:xfrm>
              <a:off x="4846320" y="1417320"/>
              <a:ext cx="384048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3"/>
            <p:cNvSpPr/>
            <p:nvPr/>
          </p:nvSpPr>
          <p:spPr>
            <a:xfrm>
              <a:off x="4846320" y="1417320"/>
              <a:ext cx="64008" cy="960120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/>
            <p:cNvSpPr/>
            <p:nvPr/>
          </p:nvSpPr>
          <p:spPr>
            <a:xfrm>
              <a:off x="5074920" y="15087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C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01</a:t>
              </a:r>
              <a:endParaRPr lang="en-US" sz="1400" dirty="0">
                <a:solidFill>
                  <a:srgbClr val="FFC000"/>
                </a:solidFill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5532120" y="1508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Unfiltered</a:t>
              </a:r>
              <a:endParaRPr lang="en-US" sz="14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074920" y="1828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000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Writer is not performing for a researcher — bypasses social desirability bias</a:t>
              </a:r>
              <a:endParaRPr lang="en-US" sz="10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846320" y="2560320"/>
              <a:ext cx="384048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4846320" y="2560320"/>
              <a:ext cx="64008" cy="960120"/>
            </a:xfrm>
            <a:prstGeom prst="rect">
              <a:avLst/>
            </a:prstGeom>
            <a:solidFill>
              <a:srgbClr val="4ECDC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5074920" y="26517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4ECDC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02</a:t>
              </a:r>
              <a:endParaRPr lang="en-US" sz="14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5532120" y="2651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Structured Genre</a:t>
              </a:r>
              <a:endParaRPr lang="en-US" sz="14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074920" y="2971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000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Consistent template: family, career, hobbies, faith — comparable across time</a:t>
              </a:r>
              <a:endParaRPr lang="en-US" sz="10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4846320" y="3703320"/>
              <a:ext cx="384048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3"/>
            <p:cNvSpPr/>
            <p:nvPr/>
          </p:nvSpPr>
          <p:spPr>
            <a:xfrm>
              <a:off x="4846320" y="3703320"/>
              <a:ext cx="64008" cy="960120"/>
            </a:xfrm>
            <a:prstGeom prst="rect">
              <a:avLst/>
            </a:prstGeom>
            <a:solidFill>
              <a:srgbClr val="9B8EC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5074920" y="379476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9B8EC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03</a:t>
              </a:r>
              <a:endParaRPr lang="en-US" sz="14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532120" y="379476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Dual Authorship</a:t>
              </a:r>
              <a:endParaRPr lang="en-US" sz="14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074920" y="411480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000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Captures what society, via the writer, thinks is important at the time of writing</a:t>
              </a:r>
              <a:endParaRPr lang="en-US" sz="100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4846320" y="4663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Grimm 2010; Fowler 2007; Hume 2000</a:t>
            </a:r>
            <a:endParaRPr 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6C045F-1914-BC99-840C-537F60397842}"/>
              </a:ext>
            </a:extLst>
          </p:cNvPr>
          <p:cNvSpPr txBox="1"/>
          <p:nvPr/>
        </p:nvSpPr>
        <p:spPr>
          <a:xfrm>
            <a:off x="521209" y="924416"/>
            <a:ext cx="4050792" cy="127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Obituaries are unguarded reflections of what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a life meant.</a:t>
            </a:r>
            <a:endParaRPr lang="en-US" sz="2200" b="1" dirty="0">
              <a:latin typeface="Montserrat" panose="00000500000000000000" pitchFamily="2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FAD71E-B374-1F5C-008E-B5AA93C4C747}"/>
              </a:ext>
            </a:extLst>
          </p:cNvPr>
          <p:cNvGrpSpPr/>
          <p:nvPr/>
        </p:nvGrpSpPr>
        <p:grpSpPr>
          <a:xfrm>
            <a:off x="1069848" y="2203677"/>
            <a:ext cx="2867030" cy="2421048"/>
            <a:chOff x="1069848" y="2309916"/>
            <a:chExt cx="2867030" cy="2421048"/>
          </a:xfrm>
        </p:grpSpPr>
        <p:pic>
          <p:nvPicPr>
            <p:cNvPr id="3" name="Image 0" descr="/home/claude/obituary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69848" y="2309916"/>
              <a:ext cx="2867030" cy="2421048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06275FF-3A3A-BAD4-5061-105F0E7AF314}"/>
                </a:ext>
              </a:extLst>
            </p:cNvPr>
            <p:cNvSpPr/>
            <p:nvPr/>
          </p:nvSpPr>
          <p:spPr>
            <a:xfrm>
              <a:off x="1069848" y="2435961"/>
              <a:ext cx="35661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sequential analytical pipeline.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377440" cy="155448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Scraping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~240K obituaries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currentobituary.com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377440" cy="155448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118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7764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classify gender,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lemmatize, remove names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377440" cy="155448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8E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1228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Distributions, genre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Steps 1–3 form the foundation for both hypotheses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794760" cy="123444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64008" cy="1234440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4a  H1 — Overall Convergence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→ centroids → cosine similarity → 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D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CosineSim = α + β₁·Year + 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00095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3794760" cy="1234440"/>
          </a:xfrm>
          <a:prstGeom prst="rect">
            <a:avLst/>
          </a:prstGeom>
          <a:solidFill>
            <a:srgbClr val="2E335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611880"/>
            <a:ext cx="64008" cy="123444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4b  H2 — Domain Drivers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Dictionary density + Female × Year interactions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β₀ + β₁F + Σγₜ·Dₜ + Σδₜ·(F×Dₜ) + 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turn raw text into structured data.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874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4C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406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names, dates, places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E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 memorial/funeral details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788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 gender (name + relational terms)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D0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Lemmatize text, remove stop words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thematic terms via dictionaries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4160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4160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TF-IDF vectors per year × gender</a:t>
            </a:r>
            <a:endParaRPr lang="en-US" sz="11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C9BFA1-63EC-5EB6-AA9D-8B1DBEFAE969}"/>
              </a:ext>
            </a:extLst>
          </p:cNvPr>
          <p:cNvGrpSpPr/>
          <p:nvPr/>
        </p:nvGrpSpPr>
        <p:grpSpPr>
          <a:xfrm>
            <a:off x="749806" y="1188720"/>
            <a:ext cx="3763670" cy="3703320"/>
            <a:chOff x="457200" y="1188720"/>
            <a:chExt cx="3763670" cy="3703320"/>
          </a:xfrm>
        </p:grpSpPr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062C88A0-9500-973B-8B23-26E368D7582F}"/>
                </a:ext>
              </a:extLst>
            </p:cNvPr>
            <p:cNvSpPr/>
            <p:nvPr/>
          </p:nvSpPr>
          <p:spPr>
            <a:xfrm>
              <a:off x="457200" y="1188720"/>
              <a:ext cx="3763670" cy="37033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7F3560CB-779E-5D5C-0E2E-3E9565658905}"/>
                </a:ext>
              </a:extLst>
            </p:cNvPr>
            <p:cNvSpPr/>
            <p:nvPr/>
          </p:nvSpPr>
          <p:spPr>
            <a:xfrm>
              <a:off x="640080" y="1347826"/>
              <a:ext cx="3429122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8A8EA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Sample Obituary</a:t>
              </a:r>
              <a:endParaRPr lang="en-US" sz="900" dirty="0"/>
            </a:p>
          </p:txBody>
        </p:sp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40F15280-44AD-F9D0-2024-07FC27511AEF}"/>
                </a:ext>
              </a:extLst>
            </p:cNvPr>
            <p:cNvSpPr/>
            <p:nvPr/>
          </p:nvSpPr>
          <p:spPr>
            <a:xfrm>
              <a:off x="622935" y="1536192"/>
              <a:ext cx="3463413" cy="3127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b="1" dirty="0">
                  <a:solidFill>
                    <a:schemeClr val="tx1">
                      <a:lumMod val="50000"/>
                    </a:schemeClr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Robert E. Behler</a:t>
              </a:r>
              <a:r>
                <a:rPr lang="en-US" sz="900" b="1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75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2E335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of Holliston passed away peacefully on August 21, 2023.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His favorite titles were "Dad" and "Grandpa." He reveled in family dinners and seized opportunities to share his passion for science with his granddaughter.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3498DB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 lifelong learner... He went on to pursue an Engineering degree and later an MBA. He spent the last two decades of his career in IT at Raytheon.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4ECDC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He piloted Cessna planes, delved into scuba diving, explored the globe with his daughter, and tinkered at his electronics work bench.</a:t>
              </a: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endParaRPr lang="en-US" sz="9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He is survived by his daughter,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Alaine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son-in-law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Brennan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and his beloved granddaughters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Page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and </a:t>
              </a:r>
              <a:r>
                <a:rPr lang="en-US" sz="800" dirty="0">
                  <a:solidFill>
                    <a:srgbClr val="2E3350"/>
                  </a:solidFill>
                  <a:highlight>
                    <a:srgbClr val="0000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Skye</a:t>
              </a:r>
              <a:r>
                <a:rPr lang="en-US" sz="800" dirty="0">
                  <a:solidFill>
                    <a:srgbClr val="E67E2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.</a:t>
              </a:r>
              <a:endParaRPr lang="en-US" sz="900" dirty="0"/>
            </a:p>
          </p:txBody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D1A7DDBB-148B-DB7D-E7FC-79296624B7AD}"/>
                </a:ext>
              </a:extLst>
            </p:cNvPr>
            <p:cNvSpPr/>
            <p:nvPr/>
          </p:nvSpPr>
          <p:spPr>
            <a:xfrm>
              <a:off x="640080" y="4640580"/>
              <a:ext cx="3429122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67E22"/>
                  </a:solidFill>
                </a:rPr>
                <a:t>●</a:t>
              </a:r>
              <a:r>
                <a:rPr lang="en-US" sz="700" dirty="0">
                  <a:solidFill>
                    <a:srgbClr val="8A8EA6"/>
                  </a:solidFill>
                </a:rPr>
                <a:t> Family  </a:t>
              </a:r>
              <a:r>
                <a:rPr lang="en-US" sz="900" dirty="0">
                  <a:solidFill>
                    <a:srgbClr val="3498DB"/>
                  </a:solidFill>
                </a:rPr>
                <a:t>●</a:t>
              </a:r>
              <a:r>
                <a:rPr lang="en-US" sz="700" dirty="0">
                  <a:solidFill>
                    <a:srgbClr val="8A8EA6"/>
                  </a:solidFill>
                </a:rPr>
                <a:t> Professional  </a:t>
              </a:r>
              <a:r>
                <a:rPr lang="en-US" sz="900" dirty="0">
                  <a:solidFill>
                    <a:srgbClr val="4ECDC4"/>
                  </a:solidFill>
                </a:rPr>
                <a:t>●</a:t>
              </a:r>
              <a:r>
                <a:rPr lang="en-US" sz="700" dirty="0">
                  <a:solidFill>
                    <a:srgbClr val="8A8EA6"/>
                  </a:solidFill>
                </a:rPr>
                <a:t> Lifestyle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EF82D-6E58-5E68-C16C-79BF1263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698FBD-BECE-9289-9B58-68CBCA3D7AD5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E1F4B-D4AC-FF13-5568-11F8ACD1F104}"/>
              </a:ext>
            </a:extLst>
          </p:cNvPr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5AB5A8"/>
                </a:solidFill>
                <a:latin typeface="Montserrat"/>
              </a:defRPr>
            </a:pPr>
            <a:r>
              <a:rPr sz="1100" b="1" kern="0" spc="400" dirty="0">
                <a:solidFill>
                  <a:srgbClr val="4ECDC4"/>
                </a:solidFill>
                <a:latin typeface="Montserrat" pitchFamily="34" charset="0"/>
              </a:rPr>
              <a:t>FINDING</a:t>
            </a:r>
            <a:r>
              <a:rPr dirty="0"/>
              <a:t>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67406-580B-3C00-2327-3D39AF513F54}"/>
              </a:ext>
            </a:extLst>
          </p:cNvPr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2E3350"/>
                </a:solidFill>
                <a:latin typeface="Montserrat"/>
              </a:defRPr>
            </a:pPr>
            <a:r>
              <a:rPr sz="2200" dirty="0"/>
              <a:t>The language gap is closing.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6C1B0-10B7-4606-74FB-55F05EDB361E}"/>
              </a:ext>
            </a:extLst>
          </p:cNvPr>
          <p:cNvSpPr/>
          <p:nvPr/>
        </p:nvSpPr>
        <p:spPr>
          <a:xfrm>
            <a:off x="5943600" y="1234440"/>
            <a:ext cx="2834640" cy="1874519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B24D0-7285-0B44-5882-5355AC36D107}"/>
              </a:ext>
            </a:extLst>
          </p:cNvPr>
          <p:cNvSpPr txBox="1"/>
          <p:nvPr/>
        </p:nvSpPr>
        <p:spPr>
          <a:xfrm>
            <a:off x="6126480" y="132588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2D06B"/>
                </a:solidFill>
                <a:latin typeface="Montserrat"/>
              </a:defRPr>
            </a:pPr>
            <a:r>
              <a:t>How we got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2F633-3D8B-27BA-133A-378916729C1B}"/>
              </a:ext>
            </a:extLst>
          </p:cNvPr>
          <p:cNvSpPr txBox="1"/>
          <p:nvPr/>
        </p:nvSpPr>
        <p:spPr>
          <a:xfrm>
            <a:off x="6126480" y="164592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rPr dirty="0"/>
              <a:t>After preprocessing, for each year:</a:t>
            </a:r>
            <a:br>
              <a:rPr dirty="0"/>
            </a:br>
            <a:endParaRPr lang="en-US" dirty="0"/>
          </a:p>
          <a:p>
            <a:pPr marL="228600" indent="-228600" algn="l">
              <a:buFont typeface="+mj-lt"/>
              <a:buAutoNum type="arabicPeriod"/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rPr dirty="0"/>
              <a:t>Fit year-specific TF-IDF vectorizer</a:t>
            </a:r>
            <a:endParaRPr lang="en-US" dirty="0"/>
          </a:p>
          <a:p>
            <a:pPr marL="228600" indent="-228600" algn="l">
              <a:buFont typeface="+mj-lt"/>
              <a:buAutoNum type="arabicPeriod"/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rPr dirty="0"/>
              <a:t>Create male and female centroid vectors (mean DTM)</a:t>
            </a:r>
            <a:endParaRPr lang="en-US" dirty="0"/>
          </a:p>
          <a:p>
            <a:pPr marL="228600" indent="-228600" algn="l">
              <a:buFont typeface="+mj-lt"/>
              <a:buAutoNum type="arabicPeriod"/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rPr dirty="0"/>
              <a:t>Compute cosine similarity between centroids</a:t>
            </a:r>
            <a:endParaRPr lang="en-US" dirty="0"/>
          </a:p>
          <a:p>
            <a:pPr marL="228600" indent="-228600" algn="l">
              <a:buFont typeface="+mj-lt"/>
              <a:buAutoNum type="arabicPeriod"/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rPr dirty="0"/>
              <a:t>Regress similarity scores on year (OLS)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B729E0-8AF3-B789-FF3F-D39B6682214C}"/>
              </a:ext>
            </a:extLst>
          </p:cNvPr>
          <p:cNvSpPr/>
          <p:nvPr/>
        </p:nvSpPr>
        <p:spPr>
          <a:xfrm>
            <a:off x="5943600" y="3200400"/>
            <a:ext cx="1325880" cy="68580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CC40FE-E141-92C1-373F-B821E6E30CD4}"/>
              </a:ext>
            </a:extLst>
          </p:cNvPr>
          <p:cNvSpPr txBox="1"/>
          <p:nvPr/>
        </p:nvSpPr>
        <p:spPr>
          <a:xfrm>
            <a:off x="6035040" y="3246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2D06B"/>
                </a:solidFill>
                <a:latin typeface="Montserrat"/>
              </a:defRPr>
            </a:pPr>
            <a:r>
              <a:rPr sz="1400" dirty="0"/>
              <a:t>R² = 0.736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5EDB2-AF41-31AD-CA77-66A2DAAFAAB2}"/>
              </a:ext>
            </a:extLst>
          </p:cNvPr>
          <p:cNvSpPr txBox="1"/>
          <p:nvPr/>
        </p:nvSpPr>
        <p:spPr>
          <a:xfrm>
            <a:off x="6035040" y="3584448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D5D8F0"/>
                </a:solidFill>
                <a:latin typeface="Montserrat"/>
              </a:defRPr>
            </a:pPr>
            <a:r>
              <a:t>74% explained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3F70AC-9C8A-A4D8-3C65-CB5C84E2D2D5}"/>
              </a:ext>
            </a:extLst>
          </p:cNvPr>
          <p:cNvSpPr/>
          <p:nvPr/>
        </p:nvSpPr>
        <p:spPr>
          <a:xfrm>
            <a:off x="7360920" y="3200400"/>
            <a:ext cx="1417320" cy="68580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DC52E5-92FB-B603-9A49-3DE87D763058}"/>
              </a:ext>
            </a:extLst>
          </p:cNvPr>
          <p:cNvSpPr txBox="1"/>
          <p:nvPr/>
        </p:nvSpPr>
        <p:spPr>
          <a:xfrm>
            <a:off x="7452360" y="324612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5AB5A8"/>
                </a:solidFill>
                <a:latin typeface="Montserrat"/>
              </a:defRPr>
            </a:pPr>
            <a:r>
              <a:rPr sz="1400" dirty="0"/>
              <a:t>p &lt; 0.001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38B6CE-EED0-B608-A124-A3588E8E2206}"/>
              </a:ext>
            </a:extLst>
          </p:cNvPr>
          <p:cNvSpPr txBox="1"/>
          <p:nvPr/>
        </p:nvSpPr>
        <p:spPr>
          <a:xfrm>
            <a:off x="7452360" y="3584448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0">
                <a:solidFill>
                  <a:srgbClr val="D5D8F0"/>
                </a:solidFill>
                <a:latin typeface="Montserrat"/>
              </a:defRPr>
            </a:pPr>
            <a:r>
              <a:t>Significant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53CCFC-C9E2-5A2D-0A77-F4F08230A4E2}"/>
              </a:ext>
            </a:extLst>
          </p:cNvPr>
          <p:cNvSpPr/>
          <p:nvPr/>
        </p:nvSpPr>
        <p:spPr>
          <a:xfrm>
            <a:off x="5943600" y="3977639"/>
            <a:ext cx="2834640" cy="50292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D3016-2B4D-3CB4-94EE-D7EF8DF51E19}"/>
              </a:ext>
            </a:extLst>
          </p:cNvPr>
          <p:cNvSpPr txBox="1"/>
          <p:nvPr/>
        </p:nvSpPr>
        <p:spPr>
          <a:xfrm>
            <a:off x="6126480" y="4087368"/>
            <a:ext cx="2468880" cy="301751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rPr lang="en-US" dirty="0"/>
              <a:t>   </a:t>
            </a:r>
            <a:r>
              <a:rPr dirty="0"/>
              <a:t>25 years  |  F = 64.11  |  β₁ = +0.0036/yr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0EA3D2-3504-7FF6-CDFD-630E60913AD9}"/>
              </a:ext>
            </a:extLst>
          </p:cNvPr>
          <p:cNvSpPr txBox="1"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3D9B8F"/>
                </a:solidFill>
                <a:latin typeface="Montserrat"/>
              </a:defRPr>
            </a:pPr>
            <a:r>
              <a:t>Cosine similarity rose from 0.774 in 2001 to 0.876 in 2025 — a steady, significant convergence.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E39EBD-6E7C-63D2-9661-AE200CAAAD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8" t="22222" r="35789" b="11556"/>
          <a:stretch>
            <a:fillRect/>
          </a:stretch>
        </p:blipFill>
        <p:spPr>
          <a:xfrm>
            <a:off x="365760" y="1210550"/>
            <a:ext cx="5332781" cy="333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58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3D4466"/>
                </a:solidFill>
                <a:latin typeface="Montserrat"/>
              </a:defRPr>
            </a:pPr>
            <a:r>
              <a:rPr sz="1100" b="1" kern="0" spc="400" dirty="0">
                <a:solidFill>
                  <a:srgbClr val="2E3350"/>
                </a:solidFill>
                <a:latin typeface="Montserrat" pitchFamily="34" charset="0"/>
              </a:rPr>
              <a:t>FINDING</a:t>
            </a:r>
            <a:r>
              <a:rPr dirty="0">
                <a:solidFill>
                  <a:srgbClr val="2E3350"/>
                </a:solidFill>
              </a:rPr>
              <a:t>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 i="0">
                <a:solidFill>
                  <a:srgbClr val="2E3350"/>
                </a:solidFill>
                <a:latin typeface="Montserrat"/>
              </a:defRPr>
            </a:pPr>
            <a:r>
              <a:rPr sz="2200" dirty="0"/>
              <a:t>Not all themes converge equally.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1">
                <a:solidFill>
                  <a:srgbClr val="8A8EA6"/>
                </a:solidFill>
                <a:latin typeface="Montserrat"/>
              </a:defRPr>
            </a:pPr>
            <a:r>
              <a:rPr dirty="0"/>
              <a:t>Dictionary-based lexical density, min age 70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751522-FC96-249C-37FA-70B24A4938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56" r="51180" b="2222"/>
          <a:stretch>
            <a:fillRect/>
          </a:stretch>
        </p:blipFill>
        <p:spPr>
          <a:xfrm>
            <a:off x="799684" y="1060554"/>
            <a:ext cx="2976592" cy="37400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74D305-CF1F-A8DE-A31D-FF2BFCDF29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80" t="11556" b="2222"/>
          <a:stretch>
            <a:fillRect/>
          </a:stretch>
        </p:blipFill>
        <p:spPr>
          <a:xfrm>
            <a:off x="4160395" y="1060554"/>
            <a:ext cx="2976592" cy="37400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457200" y="326860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25880" y="334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Finalize Paper &amp; Visualizations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6343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Polish charts for the final report, strengthen integration between motivation, theory, and findings.</a:t>
            </a:r>
            <a:endParaRPr lang="en-US" sz="10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AB5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go from here.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5AB5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 Dictionary Lexicons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theme-based word lists using LDA topic outputs from the full corpus to ensure comprehensive coverage.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496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33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Further Refine H2 Regression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788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0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regressions with obituary-year fixed effects.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B8BD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B8BDE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2560320"/>
            <a:ext cx="3474720" cy="3474720"/>
          </a:xfrm>
          <a:prstGeom prst="ellipse">
            <a:avLst/>
          </a:prstGeom>
          <a:solidFill>
            <a:srgbClr val="4ECDC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the Lines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645920" cy="54864"/>
          </a:xfrm>
          <a:prstGeom prst="rect">
            <a:avLst/>
          </a:prstGeom>
          <a:solidFill>
            <a:srgbClr val="F2D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D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you.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5AB5A8"/>
                </a:solidFill>
                <a:latin typeface="Montserrat"/>
              </a:defRPr>
            </a:pPr>
            <a:r>
              <a:t>APPENDIX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2E3350"/>
                </a:solidFill>
                <a:latin typeface="Montserrat"/>
              </a:defRPr>
            </a:pPr>
            <a:r>
              <a:t>Data &amp; Scraping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Montserrat"/>
              </a:defRPr>
            </a:pPr>
            <a:r>
              <a:t>SO WHAT:  Corpus credibility: ~240K obituaries from a US-wide aggregator ensures geographic and temporal breadth.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Source: currentobituary.com</a:t>
            </a:r>
            <a:br/>
            <a:r>
              <a:t>(US-wide obituary aggregator)</a:t>
            </a:r>
            <a:br/>
            <a:br/>
            <a:r>
              <a:t>Web scraper — no API available.</a:t>
            </a:r>
            <a:br/>
            <a:br/>
            <a:r>
              <a:t>Each record contains:</a:t>
            </a:r>
            <a:br/>
            <a:r>
              <a:t>• Full obituary text</a:t>
            </a:r>
            <a:br/>
            <a:r>
              <a:t>• Publication date</a:t>
            </a:r>
            <a:br/>
            <a:r>
              <a:t>• Name of deceased</a:t>
            </a:r>
            <a:br/>
            <a:r>
              <a:t>• Location (city, state)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5AB5A8"/>
                </a:solidFill>
                <a:latin typeface="Montserrat"/>
              </a:defRPr>
            </a:pPr>
            <a:r>
              <a:t>Sample raw record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{</a:t>
            </a:r>
            <a:br/>
            <a:r>
              <a:t>  "name": "Robert E. Behler",</a:t>
            </a:r>
            <a:br/>
            <a:r>
              <a:t>  "date": "2023-08-21",</a:t>
            </a:r>
            <a:br/>
            <a:r>
              <a:t>  "location": "Holliston, MA",</a:t>
            </a:r>
            <a:br/>
            <a:r>
              <a:t>  "text": "Robert E. Behler, 75,</a:t>
            </a:r>
            <a:br/>
            <a:r>
              <a:t>   of Holliston passed away</a:t>
            </a:r>
            <a:br/>
            <a:r>
              <a:t>   peacefully on August 21..."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2D06B"/>
                </a:solidFill>
                <a:latin typeface="Montserrat"/>
              </a:defRPr>
            </a:pPr>
            <a:r>
              <a:t>APPENDIX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Montserrat"/>
              </a:defRPr>
            </a:pPr>
            <a:r>
              <a:t>Preprocessing Technical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2E3350"/>
                </a:solidFill>
                <a:latin typeface="Montserrat"/>
              </a:defRPr>
            </a:pPr>
            <a:r>
              <a:t>SO WHAT:  Removing names, dates, and memorial details prevents genre noise from dominating the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Pipeline steps:</a:t>
            </a:r>
            <a:br/>
            <a:br/>
            <a:r>
              <a:t>1. HTML/special character cleaning</a:t>
            </a:r>
            <a:br/>
            <a:r>
              <a:t>2. Name removal (prevents gender leakage)</a:t>
            </a:r>
            <a:br/>
            <a:r>
              <a:t>3. Age extraction from text</a:t>
            </a:r>
            <a:br/>
            <a:r>
              <a:t>4. Gender classification:</a:t>
            </a:r>
            <a:br/>
            <a:r>
              <a:t>   name-based + relational term validation</a:t>
            </a:r>
            <a:br/>
            <a:r>
              <a:t>5. Memorial detail removal:</a:t>
            </a:r>
            <a:br/>
            <a:r>
              <a:t>   funeral logistics inflated religion scores</a:t>
            </a:r>
            <a:br/>
            <a:r>
              <a:t>6. Lemmatization + stop word removal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2D06B"/>
                </a:solidFill>
                <a:latin typeface="Montserrat"/>
              </a:defRPr>
            </a:pPr>
            <a:r>
              <a:t>Before → After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BEFORE:</a:t>
            </a:r>
            <a:br/>
            <a:r>
              <a:t>"Robert E. Behler, 75, of Holliston</a:t>
            </a:r>
            <a:br/>
            <a:r>
              <a:t>passed away peacefully on Aug 21,</a:t>
            </a:r>
            <a:br/>
            <a:r>
              <a:t>2023. Funeral services will be held</a:t>
            </a:r>
            <a:br/>
            <a:r>
              <a:t>at St. Mary's Church on Friday."</a:t>
            </a:r>
            <a:br/>
            <a:br/>
            <a:r>
              <a:t>AFTER:</a:t>
            </a:r>
            <a:br/>
            <a:r>
              <a:t>"pass away peacefully work</a:t>
            </a:r>
            <a:br/>
            <a:r>
              <a:t>engineer degree MBA career</a:t>
            </a:r>
            <a:br/>
            <a:r>
              <a:t>raytheon pilot cessna dive</a:t>
            </a:r>
            <a:br/>
            <a:r>
              <a:t>explore globe daughter survive"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5AB5A8"/>
                </a:solidFill>
                <a:latin typeface="Montserrat"/>
              </a:defRPr>
            </a:pPr>
            <a:r>
              <a:t>APPENDIX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2E3350"/>
                </a:solidFill>
                <a:latin typeface="Montserrat"/>
              </a:defRPr>
            </a:pPr>
            <a:r>
              <a:t>Assumptions + COVID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Montserrat"/>
              </a:defRPr>
            </a:pPr>
            <a:r>
              <a:t>SO WHAT:  Min-age-70 filter ensures comparable life arcs. COVID spike visible but does not break the trend.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Key assumption:</a:t>
            </a:r>
            <a:br/>
            <a:r>
              <a:t>Death is approximately random</a:t>
            </a:r>
            <a:br/>
            <a:r>
              <a:t>across gender within each year.</a:t>
            </a:r>
            <a:br/>
            <a:br/>
            <a:r>
              <a:t>COVID 2020–2021:</a:t>
            </a:r>
            <a:br/>
            <a:r>
              <a:t>• Male mortality disproportionately higher</a:t>
            </a:r>
            <a:br/>
            <a:r>
              <a:t>• Visible as dip in similarity scores</a:t>
            </a:r>
            <a:br/>
            <a:r>
              <a:t>• Does not break the overall 25-year trend</a:t>
            </a:r>
            <a:br/>
            <a:br/>
            <a:r>
              <a:t>Filter: min age 70 at death</a:t>
            </a:r>
            <a:br/>
            <a:r>
              <a:t>→ ensures full life arcs are compared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5AB5A8"/>
                </a:solidFill>
                <a:latin typeface="Montserrat"/>
              </a:defRPr>
            </a:pPr>
            <a:r>
              <a:t>COVID dip in convergence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Year    Similarity</a:t>
            </a:r>
            <a:br/>
            <a:r>
              <a:t>2018    0.882</a:t>
            </a:r>
            <a:br/>
            <a:r>
              <a:t>2019    0.867  ← pre-COVID</a:t>
            </a:r>
            <a:br/>
            <a:r>
              <a:t>2020    0.872  ← COVID</a:t>
            </a:r>
            <a:br/>
            <a:r>
              <a:t>2021    0.869  ← COVID</a:t>
            </a:r>
            <a:br/>
            <a:r>
              <a:t>2022    0.863  ← recovery</a:t>
            </a:r>
            <a:br/>
            <a:r>
              <a:t>2023    0.872  ← bounce back</a:t>
            </a:r>
            <a:br/>
            <a:br/>
            <a:r>
              <a:t>Dip is small (~1.5%) and temporary.</a:t>
            </a:r>
            <a:br/>
            <a:r>
              <a:t>Trend resumes post-2022.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2D06B"/>
                </a:solidFill>
                <a:latin typeface="Montserrat"/>
              </a:defRPr>
            </a:pPr>
            <a:r>
              <a:t>APPENDIX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Montserrat"/>
              </a:defRPr>
            </a:pPr>
            <a:r>
              <a:t>Category Model &amp; Dictionary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2E3350"/>
                </a:solidFill>
                <a:latin typeface="Montserrat"/>
              </a:defRPr>
            </a:pPr>
            <a:r>
              <a:t>SO WHAT:  Concrete, observable terms avoid subjectivity. Validated against Empath and expert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Religion (33 terms):</a:t>
            </a:r>
            <a:br/>
            <a:r>
              <a:t>church, faith, god, jesus, christ,</a:t>
            </a:r>
            <a:br/>
            <a:r>
              <a:t>lord, pastor, priest, bible, prayer...</a:t>
            </a:r>
            <a:br/>
            <a:br/>
            <a:r>
              <a:t>Professional (42 terms):</a:t>
            </a:r>
            <a:br/>
            <a:r>
              <a:t>career, retired, worked, professor,</a:t>
            </a:r>
            <a:br/>
            <a:r>
              <a:t>engineer, manager, business, degree...</a:t>
            </a:r>
            <a:br/>
            <a:br/>
            <a:r>
              <a:t>Family (31 terms):</a:t>
            </a:r>
            <a:br/>
            <a:r>
              <a:t>family, mother, father, daughter,</a:t>
            </a:r>
            <a:br/>
            <a:r>
              <a:t>husband, wife, survived, children...</a:t>
            </a:r>
            <a:br/>
            <a:br/>
            <a:r>
              <a:t>Lifestyle (40 terms):</a:t>
            </a:r>
            <a:br/>
            <a:r>
              <a:t>travel, hiking, golf, gardening,</a:t>
            </a:r>
            <a:br/>
            <a:r>
              <a:t>music, cooking, photography...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2D06B"/>
                </a:solidFill>
                <a:latin typeface="Montserrat"/>
              </a:defRPr>
            </a:pPr>
            <a:r>
              <a:t>Validation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3-step validation:</a:t>
            </a:r>
            <a:br/>
            <a:br/>
            <a:r>
              <a:t>1. Empath cross-check:</a:t>
            </a:r>
            <a:br/>
            <a:r>
              <a:t>   Pre-trained ~200 categories</a:t>
            </a:r>
            <a:br/>
            <a:r>
              <a:t>   mapped to our 4 pillars</a:t>
            </a:r>
            <a:br/>
            <a:br/>
            <a:r>
              <a:t>2. Expert review:</a:t>
            </a:r>
            <a:br/>
            <a:r>
              <a:t>   Manual scan of top TF-IDF terms</a:t>
            </a:r>
            <a:br/>
            <a:r>
              <a:t>   per gender per decade</a:t>
            </a:r>
            <a:br/>
            <a:br/>
            <a:r>
              <a:t>3. Concrete terms only:</a:t>
            </a:r>
            <a:br/>
            <a:r>
              <a:t>   Observable words, not</a:t>
            </a:r>
            <a:br/>
            <a:r>
              <a:t>   sentiment or inference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3D4466"/>
                </a:solidFill>
                <a:latin typeface="Montserrat"/>
              </a:defRPr>
            </a:pPr>
            <a:r>
              <a:t>APPENDIX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2E3350"/>
                </a:solidFill>
                <a:latin typeface="Montserrat"/>
              </a:defRPr>
            </a:pPr>
            <a:r>
              <a:t>"Why Not LDA?"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Montserrat"/>
              </a:defRPr>
            </a:pPr>
            <a:r>
              <a:t>SO WHAT:  Short documents + genre-dominated vocab make LDA unreliable. Dictionaries give interpretable, stable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LDA limitations for obituaries:</a:t>
            </a:r>
            <a:br/>
            <a:br/>
            <a:r>
              <a:t>1. Short docs (150–300 words)</a:t>
            </a:r>
            <a:br/>
            <a:r>
              <a:t>   → unreliable topic distributions</a:t>
            </a:r>
            <a:br/>
            <a:br/>
            <a:r>
              <a:t>2. Incoherent topics:</a:t>
            </a:r>
            <a:br/>
            <a:r>
              <a:t>   LDA mixed military, family, memorial</a:t>
            </a:r>
            <a:br/>
            <a:r>
              <a:t>   into single topics</a:t>
            </a:r>
            <a:br/>
            <a:br/>
            <a:r>
              <a:t>3. Genre vocabulary dominance:</a:t>
            </a:r>
            <a:br/>
            <a:r>
              <a:t>   "brother", "sister", "wife" appeared</a:t>
            </a:r>
            <a:br/>
            <a:r>
              <a:t>   in nearly every topic</a:t>
            </a:r>
            <a:br/>
            <a:br/>
            <a:r>
              <a:t>4. Low coherence scores across</a:t>
            </a:r>
            <a:br/>
            <a:r>
              <a:t>   k = 5, 10, 15, 20 topic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3D4466"/>
                </a:solidFill>
                <a:latin typeface="Montserrat"/>
              </a:defRPr>
            </a:pPr>
            <a:r>
              <a:t>Dictionary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Why dictionaries work better:</a:t>
            </a:r>
            <a:br/>
            <a:br/>
            <a:r>
              <a:t>✓ Interpretable by design</a:t>
            </a:r>
            <a:br/>
            <a:r>
              <a:t>   (we know exactly what each</a:t>
            </a:r>
            <a:br/>
            <a:r>
              <a:t>   category measures)</a:t>
            </a:r>
            <a:br/>
            <a:br/>
            <a:r>
              <a:t>✓ Stable across years</a:t>
            </a:r>
            <a:br/>
            <a:r>
              <a:t>   (same vocabulary, comparable</a:t>
            </a:r>
            <a:br/>
            <a:r>
              <a:t>   density scores)</a:t>
            </a:r>
            <a:br/>
            <a:br/>
            <a:r>
              <a:t>✓ Validated externally</a:t>
            </a:r>
            <a:br/>
            <a:r>
              <a:t>   (Empath + expert review)</a:t>
            </a:r>
            <a:br/>
            <a:br/>
            <a:r>
              <a:t>✓ Genre-aware</a:t>
            </a:r>
            <a:br/>
            <a:r>
              <a:t>   (memorial terms excluded)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5AB5A8"/>
                </a:solidFill>
                <a:latin typeface="Montserrat"/>
              </a:defRPr>
            </a:pPr>
            <a:r>
              <a:t>APPENDIX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Montserrat"/>
              </a:defRPr>
            </a:pPr>
            <a:r>
              <a:t>Full Regression Specs &amp; Coefficients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2E3350"/>
                </a:solidFill>
                <a:latin typeface="Montserrat"/>
              </a:defRPr>
            </a:pPr>
            <a:r>
              <a:t>SO WHAT:  H1 confirmed: year alone explains 74% of convergence. H2: Professional gap shrank from -0.018 to -0.005.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H1: CosineSim = α + β₁·Year + ε</a:t>
            </a:r>
            <a:br/>
            <a:br/>
            <a:r>
              <a:t>R² = 0.736 | Adj R² = 0.724</a:t>
            </a:r>
            <a:br/>
            <a:r>
              <a:t>F = 64.11 | p &lt; 0.001</a:t>
            </a:r>
            <a:br/>
            <a:r>
              <a:t>const = -6.353 (se=0.900)</a:t>
            </a:r>
            <a:br/>
            <a:r>
              <a:t>β₁ = +0.0036 (se=0.000)</a:t>
            </a:r>
            <a:br/>
            <a:br/>
            <a:r>
              <a:t>H2 Professional:</a:t>
            </a:r>
            <a:br/>
            <a:r>
              <a:t>β₁(Female) = -0.0178 (p=0.001)</a:t>
            </a:r>
            <a:br/>
            <a:r>
              <a:t>δ₂₀₂₅(F×2025) = +0.0128 (p=0.025)</a:t>
            </a:r>
            <a:br/>
            <a:r>
              <a:t>Remaining gap: ~-0.005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5AB5A8"/>
                </a:solidFill>
                <a:latin typeface="Montserrat"/>
              </a:defRPr>
            </a:pPr>
            <a:r>
              <a:t>H2 Family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H2 Family:</a:t>
            </a:r>
            <a:br/>
            <a:r>
              <a:t>β₁(Female) = +0.0378 (p=0.032)</a:t>
            </a:r>
            <a:br/>
            <a:br/>
            <a:r>
              <a:t>Interaction trend:</a:t>
            </a:r>
            <a:br/>
            <a:r>
              <a:t>δ₂₀₁₃ = -0.0062</a:t>
            </a:r>
            <a:br/>
            <a:r>
              <a:t>δ₂₀₁₈ = -0.0157</a:t>
            </a:r>
            <a:br/>
            <a:r>
              <a:t>δ₂₀₂₅ = -0.0225</a:t>
            </a:r>
            <a:br/>
            <a:br/>
            <a:r>
              <a:t>Remaining gap in 2025:</a:t>
            </a:r>
            <a:br/>
            <a:r>
              <a:t>0.0378 - 0.0225 = 0.0153</a:t>
            </a:r>
            <a:br/>
            <a:br/>
            <a:r>
              <a:t>Family gap halved but persists</a:t>
            </a:r>
            <a:br/>
            <a:r>
              <a:t>(consistent with genre norms)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5AB5A8"/>
                </a:solidFill>
                <a:latin typeface="Montserrat"/>
              </a:defRPr>
            </a:pPr>
            <a:r>
              <a:t>APPENDIX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2E3350"/>
                </a:solidFill>
                <a:latin typeface="Montserrat"/>
              </a:defRPr>
            </a:pPr>
            <a:r>
              <a:t>Early EDA &amp; Discarded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Montserrat"/>
              </a:defRPr>
            </a:pPr>
            <a:r>
              <a:t>SO WHAT:  Obituary length and age distributions are stable across gender, confirming comparability.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EDA confirmed:</a:t>
            </a:r>
            <a:br/>
            <a:br/>
            <a:r>
              <a:t>• Obituary length: comparable</a:t>
            </a:r>
            <a:br/>
            <a:r>
              <a:t>  across genders (median ~200 words)</a:t>
            </a:r>
            <a:br/>
            <a:br/>
            <a:r>
              <a:t>• Age-at-death: similar distributions</a:t>
            </a:r>
            <a:br/>
            <a:r>
              <a:t>  after min-70 filter</a:t>
            </a:r>
            <a:br/>
            <a:br/>
            <a:r>
              <a:t>• Gender ratio: roughly 50/50</a:t>
            </a:r>
            <a:br/>
            <a:r>
              <a:t>  across all years</a:t>
            </a:r>
            <a:br/>
            <a:br/>
            <a:r>
              <a:t>• Geographic spread: all 50 states</a:t>
            </a:r>
            <a:br/>
            <a:r>
              <a:t>  represented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5AB5A8"/>
                </a:solidFill>
                <a:latin typeface="Montserrat"/>
              </a:defRPr>
            </a:pPr>
            <a:r>
              <a:t>Discarded approaches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5C6078"/>
                </a:solidFill>
                <a:latin typeface="Montserrat"/>
              </a:defRPr>
            </a:pPr>
            <a:r>
              <a:t>What we tried and dropped:</a:t>
            </a:r>
            <a:br/>
            <a:br/>
            <a:r>
              <a:t>✕ N-gram analysis:</a:t>
            </a:r>
            <a:br/>
            <a:r>
              <a:t>  Too noisy, no clear signal</a:t>
            </a:r>
            <a:br/>
            <a:br/>
            <a:r>
              <a:t>✕ Sentiment analysis:</a:t>
            </a:r>
            <a:br/>
            <a:r>
              <a:t>  Too coarse for this genre</a:t>
            </a:r>
            <a:br/>
            <a:r>
              <a:t>  (obituaries are uniformly positive)</a:t>
            </a:r>
            <a:br/>
            <a:br/>
            <a:r>
              <a:t>✕ Word embeddings (Word2Vec):</a:t>
            </a:r>
            <a:br/>
            <a:r>
              <a:t>  Corpus too small per year</a:t>
            </a:r>
            <a:br/>
            <a:r>
              <a:t>  for reliable year-specific models</a:t>
            </a:r>
            <a:br/>
            <a:br/>
            <a:r>
              <a:t>✕ Raw word counts:</a:t>
            </a:r>
            <a:br/>
            <a:r>
              <a:t>  Document length confounded 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F2D06B"/>
                </a:solidFill>
                <a:latin typeface="Montserrat"/>
              </a:defRPr>
            </a:pPr>
            <a:r>
              <a:t>APPENDIX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Montserrat"/>
              </a:defRPr>
            </a:pPr>
            <a:r>
              <a:t>Stanford Empath Robustness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5AB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2E3350"/>
                </a:solidFill>
                <a:latin typeface="Montserrat"/>
              </a:defRPr>
            </a:pPr>
            <a:r>
              <a:t>SO WHAT:  Empath's pre-trained categories confirm our dictionary trends, ruling out coding-choice artifacts.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56616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Empath: pre-trained lexicon model</a:t>
            </a:r>
            <a:br/>
            <a:r>
              <a:t>~200 categories via word embeddings</a:t>
            </a:r>
            <a:br/>
            <a:r>
              <a:t>(Fast et al., 2016)</a:t>
            </a:r>
            <a:br/>
            <a:br/>
            <a:r>
              <a:t>Mapping to our 4 pillars:</a:t>
            </a:r>
            <a:br/>
            <a:r>
              <a:t>• Religion → "religion", "worship"</a:t>
            </a:r>
            <a:br/>
            <a:r>
              <a:t>• Professional → "work", "business"</a:t>
            </a:r>
            <a:br/>
            <a:r>
              <a:t>• Family → "family", "wedding"</a:t>
            </a:r>
            <a:br/>
            <a:r>
              <a:t>• Lifestyle → "leisure", "sports"</a:t>
            </a:r>
            <a:br/>
            <a:br/>
            <a:r>
              <a:t>Result: directional trends match</a:t>
            </a:r>
            <a:br/>
            <a:r>
              <a:t>our custom dictionaries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3931920" cy="2926080"/>
          </a:xfrm>
          <a:prstGeom prst="rect">
            <a:avLst/>
          </a:prstGeom>
          <a:solidFill>
            <a:srgbClr val="3D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965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2D06B"/>
                </a:solidFill>
                <a:latin typeface="Montserrat"/>
              </a:defRPr>
            </a:pPr>
            <a:r>
              <a:t>Empath vs Dictionary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286000"/>
            <a:ext cx="356616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 i="0">
                <a:solidFill>
                  <a:srgbClr val="D5D8F0"/>
                </a:solidFill>
                <a:latin typeface="Montserrat"/>
              </a:defRPr>
            </a:pPr>
            <a:r>
              <a:t>Theme         Dict   Empath</a:t>
            </a:r>
            <a:br/>
            <a:r>
              <a:t>─────────────────────────</a:t>
            </a:r>
            <a:br/>
            <a:r>
              <a:t>Professional  ✓ ↓gap  ✓ ↓gap</a:t>
            </a:r>
            <a:br/>
            <a:r>
              <a:t>Lifestyle     ✓ ↑both ✓ ↑both</a:t>
            </a:r>
            <a:br/>
            <a:r>
              <a:t>Family        ✓ ↓slow ✓ ↓slow</a:t>
            </a:r>
            <a:br/>
            <a:r>
              <a:t>Religion      ✓ flat  ✓ flat</a:t>
            </a:r>
            <a:br/>
            <a:br/>
            <a:r>
              <a:t>All 4 directions confirmed.</a:t>
            </a:r>
            <a:br/>
            <a:r>
              <a:t>Magnitudes differ slightly</a:t>
            </a:r>
            <a:br/>
            <a:r>
              <a:t>(Empath categories are broader)</a:t>
            </a:r>
            <a:br/>
            <a:r>
              <a:t>but convergence pattern holds.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OM">
  <a:themeElements>
    <a:clrScheme name="POMFem3">
      <a:dk1>
        <a:srgbClr val="353A4C"/>
      </a:dk1>
      <a:lt1>
        <a:srgbClr val="FAF9F6"/>
      </a:lt1>
      <a:dk2>
        <a:srgbClr val="88A097"/>
      </a:dk2>
      <a:lt2>
        <a:srgbClr val="E3EAE5"/>
      </a:lt2>
      <a:accent1>
        <a:srgbClr val="7FB3D5"/>
      </a:accent1>
      <a:accent2>
        <a:srgbClr val="C2D4C2"/>
      </a:accent2>
      <a:accent3>
        <a:srgbClr val="68B3A5"/>
      </a:accent3>
      <a:accent4>
        <a:srgbClr val="9EA7D8"/>
      </a:accent4>
      <a:accent5>
        <a:srgbClr val="739AC5"/>
      </a:accent5>
      <a:accent6>
        <a:srgbClr val="AFCDE7"/>
      </a:accent6>
      <a:hlink>
        <a:srgbClr val="4169E1"/>
      </a:hlink>
      <a:folHlink>
        <a:srgbClr val="6D5EA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M" id="{31A856C4-3ABD-4161-8C38-35ED8FBDF369}" vid="{FD5B901E-CADB-45C0-B693-00960C3B75CF}"/>
    </a:ext>
  </a:extLst>
</a:theme>
</file>

<file path=ppt/theme/theme2.xml><?xml version="1.0" encoding="utf-8"?>
<a:theme xmlns:a="http://schemas.openxmlformats.org/drawingml/2006/main" name="Office Theme">
  <a:themeElements>
    <a:clrScheme name="POM">
      <a:dk1>
        <a:srgbClr val="353A4C"/>
      </a:dk1>
      <a:lt1>
        <a:srgbClr val="FAF9F6"/>
      </a:lt1>
      <a:dk2>
        <a:srgbClr val="88A097"/>
      </a:dk2>
      <a:lt2>
        <a:srgbClr val="E3EAE5"/>
      </a:lt2>
      <a:accent1>
        <a:srgbClr val="7FB3D5"/>
      </a:accent1>
      <a:accent2>
        <a:srgbClr val="C2D4C2"/>
      </a:accent2>
      <a:accent3>
        <a:srgbClr val="68B3A5"/>
      </a:accent3>
      <a:accent4>
        <a:srgbClr val="9EA7D8"/>
      </a:accent4>
      <a:accent5>
        <a:srgbClr val="739AC5"/>
      </a:accent5>
      <a:accent6>
        <a:srgbClr val="AFCDE7"/>
      </a:accent6>
      <a:hlink>
        <a:srgbClr val="4169E1"/>
      </a:hlink>
      <a:folHlink>
        <a:srgbClr val="6D5EA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POM</Template>
  <TotalTime>44</TotalTime>
  <Words>2196</Words>
  <Application>Microsoft Office PowerPoint</Application>
  <PresentationFormat>On-screen Show (16:9)</PresentationFormat>
  <Paragraphs>199</Paragraphs>
  <Slides>19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Courier New</vt:lpstr>
      <vt:lpstr>Montserrat</vt:lpstr>
      <vt:lpstr>POM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Between the Lines</dc:title>
  <dc:subject>PptxGenJS Presentation</dc:subject>
  <dc:creator>Majo Argote, Gal·la Gelpi, Cherryl Chico</dc:creator>
  <cp:lastModifiedBy>Mariajose Argote</cp:lastModifiedBy>
  <cp:revision>4</cp:revision>
  <cp:lastPrinted>2026-03-17T21:51:16Z</cp:lastPrinted>
  <dcterms:created xsi:type="dcterms:W3CDTF">2026-03-17T19:15:37Z</dcterms:created>
  <dcterms:modified xsi:type="dcterms:W3CDTF">2026-03-17T21:51:36Z</dcterms:modified>
</cp:coreProperties>
</file>